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67" r:id="rId11"/>
    <p:sldId id="264" r:id="rId12"/>
    <p:sldId id="268" r:id="rId13"/>
    <p:sldId id="265" r:id="rId14"/>
    <p:sldId id="269" r:id="rId15"/>
    <p:sldId id="266" r:id="rId16"/>
    <p:sldId id="270" r:id="rId17"/>
    <p:sldId id="272" r:id="rId18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9BB4"/>
    <a:srgbClr val="F1F1F1"/>
    <a:srgbClr val="F3D005"/>
    <a:srgbClr val="20315D"/>
    <a:srgbClr val="666666"/>
    <a:srgbClr val="998C3F"/>
    <a:srgbClr val="3E4879"/>
    <a:srgbClr val="F0F0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44" y="3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0CDA4-57A7-4077-90E7-DE727879A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D61A306-5FC5-4ACC-9850-5EF56087E5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982702-5324-4547-A9F3-7CFE1F820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F5FE8-CF2D-4DA1-8A8F-C4CDAABDE0C1}" type="datetimeFigureOut">
              <a:rPr lang="es-AR" smtClean="0"/>
              <a:t>27/4/2022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4D1A53-9356-4C7A-8FAE-62C1E7164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69B2D8-DB32-477B-A55A-EB4A71CBB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F53F-B700-4C4F-BE69-B2853EA1B1A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27374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E1A6B4-02DE-4B89-82CF-85DAB52E8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285C28-D7F7-4310-9CF4-4CFD8F328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15F2DF-93A5-4CD4-9BC3-4D4AE9EB0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F5FE8-CF2D-4DA1-8A8F-C4CDAABDE0C1}" type="datetimeFigureOut">
              <a:rPr lang="es-AR" smtClean="0"/>
              <a:t>27/4/2022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9EDE83-D8E0-498A-82CC-D3ADECB71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DED0A7-1A5D-42A0-B712-483854A78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F53F-B700-4C4F-BE69-B2853EA1B1A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35706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EC2A4-893B-4F82-94A2-593EA9AB0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1A417C-40BA-44F4-99CF-5F03B67D9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BB344D-651B-44C2-933B-0997D9BC5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F5FE8-CF2D-4DA1-8A8F-C4CDAABDE0C1}" type="datetimeFigureOut">
              <a:rPr lang="es-AR" smtClean="0"/>
              <a:t>27/4/2022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E6C8E1-E24A-426A-8634-36E89AA22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D1FB11-FC4E-4578-8F04-932D77297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F53F-B700-4C4F-BE69-B2853EA1B1A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442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5CD39-1967-4FD9-A818-40E0DEA6D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626974-3FAA-496A-BC78-DEDF555BA1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97FFEE-AC79-457A-A164-C8D0EB19A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0D78AA-5ED5-46A2-8CF3-809E0DAB8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F5FE8-CF2D-4DA1-8A8F-C4CDAABDE0C1}" type="datetimeFigureOut">
              <a:rPr lang="es-AR" smtClean="0"/>
              <a:t>27/4/2022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863AEC6-A574-47A2-9F9E-B4BA591DC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ACBA337-BC0E-4AA2-B875-CB854AD17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F53F-B700-4C4F-BE69-B2853EA1B1A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25117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F79739-9EA2-4793-B8DC-3BB732AB4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CC80E1D-C406-4E2D-8EB2-8EF3DB662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C322F4A-6C5F-4280-8C91-310554E0F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4ED3341-D770-4B3A-9E9E-BA78417296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628BA56-1E24-492F-8C31-EC46D165C7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E266426-3083-44F9-A781-029127DC8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F5FE8-CF2D-4DA1-8A8F-C4CDAABDE0C1}" type="datetimeFigureOut">
              <a:rPr lang="es-AR" smtClean="0"/>
              <a:t>27/4/2022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8C248B2-3AD6-48BE-B9D5-FBC0A4291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6048614-13DE-4815-B12D-71BFA5C6F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F53F-B700-4C4F-BE69-B2853EA1B1A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77568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99F94D-5988-4472-82D4-F40389BDE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E9C19FA-36F0-48D4-A3EA-D857EEC18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F5FE8-CF2D-4DA1-8A8F-C4CDAABDE0C1}" type="datetimeFigureOut">
              <a:rPr lang="es-AR" smtClean="0"/>
              <a:t>27/4/2022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92D9C9A-1AE9-4589-A8EF-D72698BB4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1E6294-16F7-4369-805B-9EF853CDC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F53F-B700-4C4F-BE69-B2853EA1B1A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15047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783AB16-A06F-4041-9ACB-DE879345B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F5FE8-CF2D-4DA1-8A8F-C4CDAABDE0C1}" type="datetimeFigureOut">
              <a:rPr lang="es-AR" smtClean="0"/>
              <a:t>27/4/2022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1CA516-6A6A-4502-A965-343A35BF0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681F00-3681-4D26-8335-8E6AF965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F53F-B700-4C4F-BE69-B2853EA1B1A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13178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0E3A21-FD6E-4EC5-A2B8-39B081172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13375C-D7D2-45D3-8A2C-D572AF877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A043DD9-2E3E-4F94-A37E-D551C9BF4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9AFC4F-08CC-472D-8B28-2601B9A3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F5FE8-CF2D-4DA1-8A8F-C4CDAABDE0C1}" type="datetimeFigureOut">
              <a:rPr lang="es-AR" smtClean="0"/>
              <a:t>27/4/2022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CCD81B-9B6B-4421-8CAD-1536E4A2E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DF9C84-AF44-4E3F-B664-28811C9A1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F53F-B700-4C4F-BE69-B2853EA1B1A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36542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F25EF8-AF4C-4F46-9012-C74765569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DEF0737-A89C-453B-8DD0-BBF53991FA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6AA601F-EAE5-4A43-B210-74E632AAE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91C6748-A07C-45FB-A6A2-053168A82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F5FE8-CF2D-4DA1-8A8F-C4CDAABDE0C1}" type="datetimeFigureOut">
              <a:rPr lang="es-AR" smtClean="0"/>
              <a:t>27/4/2022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2A954A-00EB-4C2F-8B58-CE4646535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02BFCC-9C34-49D9-B9FE-F2F251E83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F53F-B700-4C4F-BE69-B2853EA1B1A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66054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BCD88-42BB-41A9-AB9B-BECAD6BB4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AE41C0-4E11-4155-A2EB-BBD3D9748C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BB6ADD-A1E4-4171-9921-5282671B2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F5FE8-CF2D-4DA1-8A8F-C4CDAABDE0C1}" type="datetimeFigureOut">
              <a:rPr lang="es-AR" smtClean="0"/>
              <a:t>27/4/2022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13CD95-9762-4E5F-9D0C-DCF125D7F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821912-8F30-4051-9DE8-6795D725F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F53F-B700-4C4F-BE69-B2853EA1B1A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0061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D04C014-3F6E-4022-8FA3-DD9BA2076E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BF0F2FA-4C76-430F-AE63-B8843CE2F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F639F7-7CF1-441C-9FD1-C047B81DE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F5FE8-CF2D-4DA1-8A8F-C4CDAABDE0C1}" type="datetimeFigureOut">
              <a:rPr lang="es-AR" smtClean="0"/>
              <a:t>27/4/2022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42DE3E-32FB-4545-B8F7-E533283C4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92051A-43B6-48F6-A220-0EDD6ABA7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F53F-B700-4C4F-BE69-B2853EA1B1A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84805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C3BB814-21C3-40CE-B924-4274FE30F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46ACE2-FEBB-44C7-A3EE-FFD804071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D059F4-29DF-4F2F-9248-BC69427BBB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F5FE8-CF2D-4DA1-8A8F-C4CDAABDE0C1}" type="datetimeFigureOut">
              <a:rPr lang="es-AR" smtClean="0"/>
              <a:t>27/4/2022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FC4707-4F6A-43D9-90E0-3DCDEB1BE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8C27C3-2E0D-494E-98E5-C00AF1CDA3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FF53F-B700-4C4F-BE69-B2853EA1B1A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08093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A04FDAB-62D6-4F83-ABF7-A0FF4DB46FA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18" t="3878" r="12963" b="36796"/>
          <a:stretch/>
        </p:blipFill>
        <p:spPr bwMode="auto">
          <a:xfrm>
            <a:off x="424550" y="751784"/>
            <a:ext cx="5224861" cy="522956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D526FBD7-6BD6-4710-9BFB-C044B0636B14}"/>
              </a:ext>
            </a:extLst>
          </p:cNvPr>
          <p:cNvSpPr/>
          <p:nvPr/>
        </p:nvSpPr>
        <p:spPr>
          <a:xfrm>
            <a:off x="6446937" y="1249963"/>
            <a:ext cx="494951" cy="604007"/>
          </a:xfrm>
          <a:prstGeom prst="ellipse">
            <a:avLst/>
          </a:prstGeom>
          <a:solidFill>
            <a:srgbClr val="20315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34E66AD4-1E73-47ED-AA8A-06D37795083B}"/>
              </a:ext>
            </a:extLst>
          </p:cNvPr>
          <p:cNvSpPr/>
          <p:nvPr/>
        </p:nvSpPr>
        <p:spPr>
          <a:xfrm>
            <a:off x="6446938" y="3315750"/>
            <a:ext cx="494951" cy="604007"/>
          </a:xfrm>
          <a:prstGeom prst="ellipse">
            <a:avLst/>
          </a:prstGeom>
          <a:solidFill>
            <a:srgbClr val="3E48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B2DF9006-9E50-4AB5-8BCC-BAD11B9B36B4}"/>
              </a:ext>
            </a:extLst>
          </p:cNvPr>
          <p:cNvSpPr/>
          <p:nvPr/>
        </p:nvSpPr>
        <p:spPr>
          <a:xfrm>
            <a:off x="6446939" y="4407017"/>
            <a:ext cx="494951" cy="604007"/>
          </a:xfrm>
          <a:prstGeom prst="ellipse">
            <a:avLst/>
          </a:prstGeom>
          <a:solidFill>
            <a:srgbClr val="F3D00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31C89212-F3E7-4757-B436-DB6B7970CA83}"/>
              </a:ext>
            </a:extLst>
          </p:cNvPr>
          <p:cNvSpPr/>
          <p:nvPr/>
        </p:nvSpPr>
        <p:spPr>
          <a:xfrm>
            <a:off x="6446940" y="5381537"/>
            <a:ext cx="494951" cy="604007"/>
          </a:xfrm>
          <a:prstGeom prst="ellipse">
            <a:avLst/>
          </a:prstGeom>
          <a:solidFill>
            <a:srgbClr val="F1F1F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2FA2459-441A-4E3B-8735-B47AEE998318}"/>
              </a:ext>
            </a:extLst>
          </p:cNvPr>
          <p:cNvSpPr txBox="1"/>
          <p:nvPr/>
        </p:nvSpPr>
        <p:spPr>
          <a:xfrm>
            <a:off x="7610764" y="1367300"/>
            <a:ext cx="1027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#20315D</a:t>
            </a:r>
            <a:endParaRPr lang="es-AR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092BA88-EED5-40ED-8BA8-3AD03D0B4932}"/>
              </a:ext>
            </a:extLst>
          </p:cNvPr>
          <p:cNvSpPr txBox="1"/>
          <p:nvPr/>
        </p:nvSpPr>
        <p:spPr>
          <a:xfrm>
            <a:off x="7739416" y="3433087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#3E4879</a:t>
            </a:r>
            <a:endParaRPr lang="es-AR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881589A-CB88-4878-B3D7-A44660E3C9A1}"/>
              </a:ext>
            </a:extLst>
          </p:cNvPr>
          <p:cNvSpPr txBox="1"/>
          <p:nvPr/>
        </p:nvSpPr>
        <p:spPr>
          <a:xfrm>
            <a:off x="7739418" y="4524354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#F3D005</a:t>
            </a:r>
            <a:endParaRPr lang="es-AR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9CB5CA9-4412-4E30-B327-DBA240E8B4F3}"/>
              </a:ext>
            </a:extLst>
          </p:cNvPr>
          <p:cNvSpPr txBox="1"/>
          <p:nvPr/>
        </p:nvSpPr>
        <p:spPr>
          <a:xfrm>
            <a:off x="7753383" y="5498874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#F1F1F1</a:t>
            </a:r>
            <a:endParaRPr lang="es-AR" dirty="0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6A7E68FF-EFDB-4A22-B0A9-8FF40AE5C642}"/>
              </a:ext>
            </a:extLst>
          </p:cNvPr>
          <p:cNvSpPr/>
          <p:nvPr/>
        </p:nvSpPr>
        <p:spPr>
          <a:xfrm>
            <a:off x="9882909" y="1985818"/>
            <a:ext cx="960582" cy="1089891"/>
          </a:xfrm>
          <a:prstGeom prst="roundRect">
            <a:avLst/>
          </a:prstGeom>
          <a:solidFill>
            <a:srgbClr val="3E48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3" name="Gráfico 2" descr="Flechas de cheurón">
            <a:extLst>
              <a:ext uri="{FF2B5EF4-FFF2-40B4-BE49-F238E27FC236}">
                <a16:creationId xmlns:a16="http://schemas.microsoft.com/office/drawing/2014/main" id="{C71C54D4-2125-42C3-BC05-7C28D00963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01076" y="3802419"/>
            <a:ext cx="914400" cy="914400"/>
          </a:xfrm>
          <a:prstGeom prst="rect">
            <a:avLst/>
          </a:prstGeom>
        </p:spPr>
      </p:pic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712C6C81-6448-424A-90EB-CC2697EC78DF}"/>
              </a:ext>
            </a:extLst>
          </p:cNvPr>
          <p:cNvSpPr/>
          <p:nvPr/>
        </p:nvSpPr>
        <p:spPr>
          <a:xfrm>
            <a:off x="10238509" y="1985818"/>
            <a:ext cx="960582" cy="1089891"/>
          </a:xfrm>
          <a:prstGeom prst="roundRect">
            <a:avLst/>
          </a:prstGeom>
          <a:solidFill>
            <a:srgbClr val="F3D005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8B4B6D8-3F36-4127-BBAB-7DFE30CE4982}"/>
              </a:ext>
            </a:extLst>
          </p:cNvPr>
          <p:cNvSpPr/>
          <p:nvPr/>
        </p:nvSpPr>
        <p:spPr>
          <a:xfrm>
            <a:off x="11323782" y="3617753"/>
            <a:ext cx="147782" cy="184666"/>
          </a:xfrm>
          <a:prstGeom prst="rect">
            <a:avLst/>
          </a:prstGeom>
          <a:solidFill>
            <a:srgbClr val="998C3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6" name="Gráfico 15" descr="Flechas de cheurón">
            <a:extLst>
              <a:ext uri="{FF2B5EF4-FFF2-40B4-BE49-F238E27FC236}">
                <a16:creationId xmlns:a16="http://schemas.microsoft.com/office/drawing/2014/main" id="{07FDFD70-3DD7-4FF7-8D85-10755BBBCC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0153476" y="5226340"/>
            <a:ext cx="914400" cy="9144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ACF18540-237D-48B6-A6F9-DEB6DA40DA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9520" y="1853970"/>
            <a:ext cx="1194920" cy="347502"/>
          </a:xfrm>
          <a:prstGeom prst="rect">
            <a:avLst/>
          </a:prstGeom>
        </p:spPr>
      </p:pic>
      <p:pic>
        <p:nvPicPr>
          <p:cNvPr id="18" name="Gráfico 17" descr="Ayuda">
            <a:extLst>
              <a:ext uri="{FF2B5EF4-FFF2-40B4-BE49-F238E27FC236}">
                <a16:creationId xmlns:a16="http://schemas.microsoft.com/office/drawing/2014/main" id="{5D46A6B4-9EB0-4D1B-81B1-49E53E5FFC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76577" y="4529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578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>
            <a:extLst>
              <a:ext uri="{FF2B5EF4-FFF2-40B4-BE49-F238E27FC236}">
                <a16:creationId xmlns:a16="http://schemas.microsoft.com/office/drawing/2014/main" id="{D526FBD7-6BD6-4710-9BFB-C044B0636B14}"/>
              </a:ext>
            </a:extLst>
          </p:cNvPr>
          <p:cNvSpPr/>
          <p:nvPr/>
        </p:nvSpPr>
        <p:spPr>
          <a:xfrm>
            <a:off x="6446937" y="1249963"/>
            <a:ext cx="494951" cy="604007"/>
          </a:xfrm>
          <a:prstGeom prst="ellipse">
            <a:avLst/>
          </a:prstGeom>
          <a:solidFill>
            <a:srgbClr val="20315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34E66AD4-1E73-47ED-AA8A-06D37795083B}"/>
              </a:ext>
            </a:extLst>
          </p:cNvPr>
          <p:cNvSpPr/>
          <p:nvPr/>
        </p:nvSpPr>
        <p:spPr>
          <a:xfrm>
            <a:off x="6446938" y="3315750"/>
            <a:ext cx="494951" cy="604007"/>
          </a:xfrm>
          <a:prstGeom prst="ellipse">
            <a:avLst/>
          </a:prstGeom>
          <a:solidFill>
            <a:srgbClr val="3E48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B2DF9006-9E50-4AB5-8BCC-BAD11B9B36B4}"/>
              </a:ext>
            </a:extLst>
          </p:cNvPr>
          <p:cNvSpPr/>
          <p:nvPr/>
        </p:nvSpPr>
        <p:spPr>
          <a:xfrm>
            <a:off x="6446939" y="4407017"/>
            <a:ext cx="494951" cy="604007"/>
          </a:xfrm>
          <a:prstGeom prst="ellipse">
            <a:avLst/>
          </a:prstGeom>
          <a:solidFill>
            <a:srgbClr val="F3D00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31C89212-F3E7-4757-B436-DB6B7970CA83}"/>
              </a:ext>
            </a:extLst>
          </p:cNvPr>
          <p:cNvSpPr/>
          <p:nvPr/>
        </p:nvSpPr>
        <p:spPr>
          <a:xfrm>
            <a:off x="6446940" y="5381537"/>
            <a:ext cx="494951" cy="604007"/>
          </a:xfrm>
          <a:prstGeom prst="ellipse">
            <a:avLst/>
          </a:prstGeom>
          <a:solidFill>
            <a:srgbClr val="F1F1F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2FA2459-441A-4E3B-8735-B47AEE998318}"/>
              </a:ext>
            </a:extLst>
          </p:cNvPr>
          <p:cNvSpPr txBox="1"/>
          <p:nvPr/>
        </p:nvSpPr>
        <p:spPr>
          <a:xfrm>
            <a:off x="7610764" y="1367300"/>
            <a:ext cx="1027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#20315D</a:t>
            </a:r>
            <a:endParaRPr lang="es-AR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092BA88-EED5-40ED-8BA8-3AD03D0B4932}"/>
              </a:ext>
            </a:extLst>
          </p:cNvPr>
          <p:cNvSpPr txBox="1"/>
          <p:nvPr/>
        </p:nvSpPr>
        <p:spPr>
          <a:xfrm>
            <a:off x="7739416" y="3433087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#3E4879</a:t>
            </a:r>
            <a:endParaRPr lang="es-AR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881589A-CB88-4878-B3D7-A44660E3C9A1}"/>
              </a:ext>
            </a:extLst>
          </p:cNvPr>
          <p:cNvSpPr txBox="1"/>
          <p:nvPr/>
        </p:nvSpPr>
        <p:spPr>
          <a:xfrm>
            <a:off x="7739418" y="4524354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#F3D005</a:t>
            </a:r>
            <a:endParaRPr lang="es-AR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9CB5CA9-4412-4E30-B327-DBA240E8B4F3}"/>
              </a:ext>
            </a:extLst>
          </p:cNvPr>
          <p:cNvSpPr txBox="1"/>
          <p:nvPr/>
        </p:nvSpPr>
        <p:spPr>
          <a:xfrm>
            <a:off x="7753383" y="5498874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#F1F1F1</a:t>
            </a:r>
            <a:endParaRPr lang="es-AR" dirty="0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6A7E68FF-EFDB-4A22-B0A9-8FF40AE5C642}"/>
              </a:ext>
            </a:extLst>
          </p:cNvPr>
          <p:cNvSpPr/>
          <p:nvPr/>
        </p:nvSpPr>
        <p:spPr>
          <a:xfrm>
            <a:off x="9882909" y="1985818"/>
            <a:ext cx="960582" cy="1089891"/>
          </a:xfrm>
          <a:prstGeom prst="roundRect">
            <a:avLst/>
          </a:prstGeom>
          <a:solidFill>
            <a:srgbClr val="F1F1F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D8CE637-A84F-498F-B9B6-B1359474E5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509" y="1092209"/>
            <a:ext cx="1525352" cy="1523522"/>
          </a:xfrm>
          <a:prstGeom prst="rect">
            <a:avLst/>
          </a:prstGeom>
          <a:solidFill>
            <a:srgbClr val="F1F1F1"/>
          </a:solidFill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E1EF554A-3C0A-4B2C-930A-3FCEE27ECB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509" y="3355014"/>
            <a:ext cx="1525352" cy="1525352"/>
          </a:xfrm>
          <a:prstGeom prst="rect">
            <a:avLst/>
          </a:prstGeom>
          <a:solidFill>
            <a:srgbClr val="F1F1F1"/>
          </a:solidFill>
        </p:spPr>
      </p:pic>
    </p:spTree>
    <p:extLst>
      <p:ext uri="{BB962C8B-B14F-4D97-AF65-F5344CB8AC3E}">
        <p14:creationId xmlns:p14="http://schemas.microsoft.com/office/powerpoint/2010/main" val="592607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>
            <a:extLst>
              <a:ext uri="{FF2B5EF4-FFF2-40B4-BE49-F238E27FC236}">
                <a16:creationId xmlns:a16="http://schemas.microsoft.com/office/drawing/2014/main" id="{D526FBD7-6BD6-4710-9BFB-C044B0636B14}"/>
              </a:ext>
            </a:extLst>
          </p:cNvPr>
          <p:cNvSpPr/>
          <p:nvPr/>
        </p:nvSpPr>
        <p:spPr>
          <a:xfrm>
            <a:off x="6446937" y="1249963"/>
            <a:ext cx="494951" cy="604007"/>
          </a:xfrm>
          <a:prstGeom prst="ellipse">
            <a:avLst/>
          </a:prstGeom>
          <a:solidFill>
            <a:srgbClr val="20315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34E66AD4-1E73-47ED-AA8A-06D37795083B}"/>
              </a:ext>
            </a:extLst>
          </p:cNvPr>
          <p:cNvSpPr/>
          <p:nvPr/>
        </p:nvSpPr>
        <p:spPr>
          <a:xfrm>
            <a:off x="6446938" y="3315750"/>
            <a:ext cx="494951" cy="604007"/>
          </a:xfrm>
          <a:prstGeom prst="ellipse">
            <a:avLst/>
          </a:prstGeom>
          <a:solidFill>
            <a:srgbClr val="3E48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B2DF9006-9E50-4AB5-8BCC-BAD11B9B36B4}"/>
              </a:ext>
            </a:extLst>
          </p:cNvPr>
          <p:cNvSpPr/>
          <p:nvPr/>
        </p:nvSpPr>
        <p:spPr>
          <a:xfrm>
            <a:off x="6446939" y="4407017"/>
            <a:ext cx="494951" cy="604007"/>
          </a:xfrm>
          <a:prstGeom prst="ellipse">
            <a:avLst/>
          </a:prstGeom>
          <a:solidFill>
            <a:srgbClr val="F3D00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31C89212-F3E7-4757-B436-DB6B7970CA83}"/>
              </a:ext>
            </a:extLst>
          </p:cNvPr>
          <p:cNvSpPr/>
          <p:nvPr/>
        </p:nvSpPr>
        <p:spPr>
          <a:xfrm>
            <a:off x="6446940" y="5381537"/>
            <a:ext cx="494951" cy="604007"/>
          </a:xfrm>
          <a:prstGeom prst="ellipse">
            <a:avLst/>
          </a:prstGeom>
          <a:solidFill>
            <a:srgbClr val="F1F1F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2FA2459-441A-4E3B-8735-B47AEE998318}"/>
              </a:ext>
            </a:extLst>
          </p:cNvPr>
          <p:cNvSpPr txBox="1"/>
          <p:nvPr/>
        </p:nvSpPr>
        <p:spPr>
          <a:xfrm>
            <a:off x="7610764" y="1367300"/>
            <a:ext cx="1027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#20315D</a:t>
            </a:r>
            <a:endParaRPr lang="es-AR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092BA88-EED5-40ED-8BA8-3AD03D0B4932}"/>
              </a:ext>
            </a:extLst>
          </p:cNvPr>
          <p:cNvSpPr txBox="1"/>
          <p:nvPr/>
        </p:nvSpPr>
        <p:spPr>
          <a:xfrm>
            <a:off x="7739416" y="3433087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#3E4879</a:t>
            </a:r>
            <a:endParaRPr lang="es-AR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881589A-CB88-4878-B3D7-A44660E3C9A1}"/>
              </a:ext>
            </a:extLst>
          </p:cNvPr>
          <p:cNvSpPr txBox="1"/>
          <p:nvPr/>
        </p:nvSpPr>
        <p:spPr>
          <a:xfrm>
            <a:off x="7739418" y="4524354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#F3D005</a:t>
            </a:r>
            <a:endParaRPr lang="es-AR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9CB5CA9-4412-4E30-B327-DBA240E8B4F3}"/>
              </a:ext>
            </a:extLst>
          </p:cNvPr>
          <p:cNvSpPr txBox="1"/>
          <p:nvPr/>
        </p:nvSpPr>
        <p:spPr>
          <a:xfrm>
            <a:off x="7753383" y="5498874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#F1F1F1</a:t>
            </a:r>
            <a:endParaRPr lang="es-AR" dirty="0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6A7E68FF-EFDB-4A22-B0A9-8FF40AE5C642}"/>
              </a:ext>
            </a:extLst>
          </p:cNvPr>
          <p:cNvSpPr/>
          <p:nvPr/>
        </p:nvSpPr>
        <p:spPr>
          <a:xfrm>
            <a:off x="9882909" y="1985818"/>
            <a:ext cx="960582" cy="1089891"/>
          </a:xfrm>
          <a:prstGeom prst="roundRect">
            <a:avLst/>
          </a:prstGeom>
          <a:solidFill>
            <a:srgbClr val="F1F1F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D8CE637-A84F-498F-B9B6-B1359474E5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509" y="1092209"/>
            <a:ext cx="1525352" cy="1523522"/>
          </a:xfrm>
          <a:prstGeom prst="rect">
            <a:avLst/>
          </a:prstGeom>
          <a:solidFill>
            <a:srgbClr val="F0F0F0"/>
          </a:solidFill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E1EF554A-3C0A-4B2C-930A-3FCEE27ECB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509" y="3355014"/>
            <a:ext cx="1525352" cy="1525352"/>
          </a:xfrm>
          <a:prstGeom prst="rect">
            <a:avLst/>
          </a:prstGeom>
          <a:solidFill>
            <a:srgbClr val="F0F0F0"/>
          </a:solidFill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1CCC4FE-328E-4CC4-90B5-0002AE40DEC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227" t="32458" r="67262" b="53362"/>
          <a:stretch/>
        </p:blipFill>
        <p:spPr>
          <a:xfrm>
            <a:off x="3897723" y="1224094"/>
            <a:ext cx="1525352" cy="97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950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E49E1269-4C27-4606-B8D6-9AC8F667DA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23" t="32171" r="73097" b="30887"/>
          <a:stretch/>
        </p:blipFill>
        <p:spPr>
          <a:xfrm>
            <a:off x="612396" y="2206305"/>
            <a:ext cx="2667699" cy="2533476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153F5C3A-721E-405E-B73E-E92401D8C4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48" t="33640" r="74698" b="32110"/>
          <a:stretch/>
        </p:blipFill>
        <p:spPr>
          <a:xfrm>
            <a:off x="2718362" y="2399252"/>
            <a:ext cx="486233" cy="481558"/>
          </a:xfrm>
          <a:prstGeom prst="rect">
            <a:avLst/>
          </a:prstGeom>
        </p:spPr>
      </p:pic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D6C8165B-8D34-44EB-8069-B3D8A24DF1F9}"/>
              </a:ext>
            </a:extLst>
          </p:cNvPr>
          <p:cNvSpPr/>
          <p:nvPr/>
        </p:nvSpPr>
        <p:spPr>
          <a:xfrm>
            <a:off x="2416029" y="2640031"/>
            <a:ext cx="226833" cy="78002"/>
          </a:xfrm>
          <a:prstGeom prst="rightArrow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B35DA0A-BDF9-4AFF-8E4F-48A71268596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588" y="3258297"/>
            <a:ext cx="1188823" cy="34140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13E4A32-DDEE-431D-BEBC-DF4039BB47A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0303" y="3296653"/>
            <a:ext cx="1188823" cy="34140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04C599B-5126-4F1F-82C0-257837EB480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20315D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3963" y="888487"/>
            <a:ext cx="5084074" cy="5081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0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E49E1269-4C27-4606-B8D6-9AC8F667DA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23" t="32171" r="73097" b="30887"/>
          <a:stretch/>
        </p:blipFill>
        <p:spPr>
          <a:xfrm>
            <a:off x="612396" y="2206305"/>
            <a:ext cx="2667699" cy="2533476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153F5C3A-721E-405E-B73E-E92401D8C4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48" t="33640" r="74698" b="32110"/>
          <a:stretch/>
        </p:blipFill>
        <p:spPr>
          <a:xfrm>
            <a:off x="2718362" y="2399252"/>
            <a:ext cx="486233" cy="481558"/>
          </a:xfrm>
          <a:prstGeom prst="rect">
            <a:avLst/>
          </a:prstGeom>
        </p:spPr>
      </p:pic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D6C8165B-8D34-44EB-8069-B3D8A24DF1F9}"/>
              </a:ext>
            </a:extLst>
          </p:cNvPr>
          <p:cNvSpPr/>
          <p:nvPr/>
        </p:nvSpPr>
        <p:spPr>
          <a:xfrm>
            <a:off x="2416029" y="2640031"/>
            <a:ext cx="226833" cy="78002"/>
          </a:xfrm>
          <a:prstGeom prst="rightArrow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B35DA0A-BDF9-4AFF-8E4F-48A71268596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987" y="1370774"/>
            <a:ext cx="1188823" cy="34140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13E4A32-DDEE-431D-BEBC-DF4039BB47A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169" y="812505"/>
            <a:ext cx="1188823" cy="34140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0F5383A-F9AA-41E3-BBB3-4D621A4E5EC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66" r="82786" b="5138"/>
          <a:stretch/>
        </p:blipFill>
        <p:spPr>
          <a:xfrm>
            <a:off x="6651866" y="1845578"/>
            <a:ext cx="1275730" cy="2533476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F67909AD-D9AA-4AB1-8230-54F6DCB39F51}"/>
              </a:ext>
            </a:extLst>
          </p:cNvPr>
          <p:cNvSpPr/>
          <p:nvPr/>
        </p:nvSpPr>
        <p:spPr>
          <a:xfrm>
            <a:off x="7776594" y="3154261"/>
            <a:ext cx="151002" cy="2747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45126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E49E1269-4C27-4606-B8D6-9AC8F667DA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23" t="32171" r="73097" b="30887"/>
          <a:stretch/>
        </p:blipFill>
        <p:spPr>
          <a:xfrm>
            <a:off x="612396" y="2206305"/>
            <a:ext cx="2667699" cy="2533476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153F5C3A-721E-405E-B73E-E92401D8C4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48" t="33640" r="74698" b="32110"/>
          <a:stretch/>
        </p:blipFill>
        <p:spPr>
          <a:xfrm>
            <a:off x="2718362" y="2399252"/>
            <a:ext cx="486233" cy="481558"/>
          </a:xfrm>
          <a:prstGeom prst="rect">
            <a:avLst/>
          </a:prstGeom>
        </p:spPr>
      </p:pic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D6C8165B-8D34-44EB-8069-B3D8A24DF1F9}"/>
              </a:ext>
            </a:extLst>
          </p:cNvPr>
          <p:cNvSpPr/>
          <p:nvPr/>
        </p:nvSpPr>
        <p:spPr>
          <a:xfrm>
            <a:off x="2416029" y="2640031"/>
            <a:ext cx="226833" cy="78002"/>
          </a:xfrm>
          <a:prstGeom prst="rightArrow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B35DA0A-BDF9-4AFF-8E4F-48A71268596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987" y="1370774"/>
            <a:ext cx="1188823" cy="34140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13E4A32-DDEE-431D-BEBC-DF4039BB47A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169" y="812505"/>
            <a:ext cx="1188823" cy="34140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11FDC75-2243-4427-BDFD-DE8C68F5E04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5864" y="2163970"/>
            <a:ext cx="1280271" cy="253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459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A4EF873F-B884-415E-8580-556B2F7BB7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8F51461C-92BF-496C-9013-17741327797B}"/>
              </a:ext>
            </a:extLst>
          </p:cNvPr>
          <p:cNvGrpSpPr>
            <a:grpSpLocks noChangeAspect="1"/>
          </p:cNvGrpSpPr>
          <p:nvPr/>
        </p:nvGrpSpPr>
        <p:grpSpPr>
          <a:xfrm>
            <a:off x="140788" y="171450"/>
            <a:ext cx="5730737" cy="3114142"/>
            <a:chOff x="526918" y="352522"/>
            <a:chExt cx="11374192" cy="6403055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881F9A16-C24C-43BC-A874-3BE9252AC6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6918" y="352522"/>
              <a:ext cx="11374192" cy="6403055"/>
            </a:xfrm>
            <a:prstGeom prst="rect">
              <a:avLst/>
            </a:prstGeom>
          </p:spPr>
        </p:pic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41702AE5-86CD-44E7-BA11-E49AE77DDE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6947" y="5774994"/>
              <a:ext cx="1103414" cy="316879"/>
            </a:xfrm>
            <a:prstGeom prst="rect">
              <a:avLst/>
            </a:prstGeom>
          </p:spPr>
        </p:pic>
      </p:grpSp>
      <p:pic>
        <p:nvPicPr>
          <p:cNvPr id="7" name="Imagen 6">
            <a:extLst>
              <a:ext uri="{FF2B5EF4-FFF2-40B4-BE49-F238E27FC236}">
                <a16:creationId xmlns:a16="http://schemas.microsoft.com/office/drawing/2014/main" id="{5C56DB56-122A-4C64-8E32-F23F0C269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475" y="171450"/>
            <a:ext cx="5730737" cy="311414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F84143F-990A-4107-9C9B-39B6119209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787" y="3572409"/>
            <a:ext cx="5730739" cy="315495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302B8A6-F8E5-46DD-B434-E8386CFC79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0475" y="3572409"/>
            <a:ext cx="5730737" cy="315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950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BA82CF77-1329-4329-BB83-96A3CF13997D}"/>
              </a:ext>
            </a:extLst>
          </p:cNvPr>
          <p:cNvGrpSpPr/>
          <p:nvPr/>
        </p:nvGrpSpPr>
        <p:grpSpPr>
          <a:xfrm>
            <a:off x="4818" y="0"/>
            <a:ext cx="12182364" cy="6858000"/>
            <a:chOff x="4818" y="0"/>
            <a:chExt cx="12182364" cy="6858000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A3645048-C336-4EC9-AE42-B0AF7065ED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18" y="0"/>
              <a:ext cx="12182364" cy="6858000"/>
            </a:xfrm>
            <a:prstGeom prst="rect">
              <a:avLst/>
            </a:prstGeom>
          </p:spPr>
        </p:pic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BE313C20-DA8F-4D7F-ABB6-D341E86513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6917" y="5774994"/>
              <a:ext cx="1361213" cy="390913"/>
            </a:xfrm>
            <a:prstGeom prst="rect">
              <a:avLst/>
            </a:prstGeom>
          </p:spPr>
        </p:pic>
      </p:grpSp>
      <p:sp>
        <p:nvSpPr>
          <p:cNvPr id="3" name="Rectángulo 2">
            <a:extLst>
              <a:ext uri="{FF2B5EF4-FFF2-40B4-BE49-F238E27FC236}">
                <a16:creationId xmlns:a16="http://schemas.microsoft.com/office/drawing/2014/main" id="{BC4C0D47-AC99-4A61-9AB3-92A7B58AC5F2}"/>
              </a:ext>
            </a:extLst>
          </p:cNvPr>
          <p:cNvSpPr/>
          <p:nvPr/>
        </p:nvSpPr>
        <p:spPr>
          <a:xfrm>
            <a:off x="7979434" y="5443268"/>
            <a:ext cx="776377" cy="500332"/>
          </a:xfrm>
          <a:prstGeom prst="rect">
            <a:avLst/>
          </a:prstGeom>
          <a:solidFill>
            <a:srgbClr val="979BB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7026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9F1FDF5-1D05-47DC-84C3-1E1F0B6EEB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26" t="14737" r="16842" b="9942"/>
          <a:stretch/>
        </p:blipFill>
        <p:spPr>
          <a:xfrm>
            <a:off x="978568" y="1010652"/>
            <a:ext cx="9160043" cy="516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472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ángulo 79">
            <a:extLst>
              <a:ext uri="{FF2B5EF4-FFF2-40B4-BE49-F238E27FC236}">
                <a16:creationId xmlns:a16="http://schemas.microsoft.com/office/drawing/2014/main" id="{5D6B8923-E75D-4CFD-A565-5AB738E64D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9F1FDF5-1D05-47DC-84C3-1E1F0B6EEB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26" t="14737" r="16842" b="9942"/>
          <a:stretch/>
        </p:blipFill>
        <p:spPr>
          <a:xfrm>
            <a:off x="1515978" y="846220"/>
            <a:ext cx="9160043" cy="5165559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ACE7D84C-86A3-4CE7-B055-2FC81BB9FF5E}"/>
              </a:ext>
            </a:extLst>
          </p:cNvPr>
          <p:cNvSpPr txBox="1"/>
          <p:nvPr/>
        </p:nvSpPr>
        <p:spPr>
          <a:xfrm>
            <a:off x="6327670" y="150602"/>
            <a:ext cx="1555234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just"/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Panel de </a:t>
            </a:r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navegación </a:t>
            </a:r>
            <a:b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a otras páginas</a:t>
            </a:r>
            <a:endParaRPr lang="es-AR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FF7501C-C517-4AD9-A0DA-9133A1B83EBA}"/>
              </a:ext>
            </a:extLst>
          </p:cNvPr>
          <p:cNvSpPr txBox="1"/>
          <p:nvPr/>
        </p:nvSpPr>
        <p:spPr>
          <a:xfrm>
            <a:off x="2522539" y="187759"/>
            <a:ext cx="3381054" cy="55399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b="1" dirty="0">
                <a:latin typeface="Verdana" panose="020B0604030504040204" pitchFamily="34" charset="0"/>
                <a:ea typeface="Verdana" panose="020B0604030504040204" pitchFamily="34" charset="0"/>
              </a:rPr>
              <a:t>Bookmark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Deja todos los valores de los filtros en “Todas”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Deja el % de puntos extra en 0</a:t>
            </a:r>
            <a:endParaRPr lang="es-AR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0FABAA3-5BAC-4ACD-9B11-0EE9BA3DB022}"/>
              </a:ext>
            </a:extLst>
          </p:cNvPr>
          <p:cNvSpPr txBox="1"/>
          <p:nvPr/>
        </p:nvSpPr>
        <p:spPr>
          <a:xfrm>
            <a:off x="8247623" y="150602"/>
            <a:ext cx="1234633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b="1" dirty="0">
                <a:latin typeface="Verdana" panose="020B0604030504040204" pitchFamily="34" charset="0"/>
                <a:ea typeface="Verdana" panose="020B0604030504040204" pitchFamily="34" charset="0"/>
              </a:rPr>
              <a:t>Navegador </a:t>
            </a:r>
          </a:p>
          <a:p>
            <a:pPr algn="just"/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Página posterior</a:t>
            </a:r>
            <a:endParaRPr lang="es-AR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D723925A-CC19-4900-94FA-AA5E6DEE349E}"/>
              </a:ext>
            </a:extLst>
          </p:cNvPr>
          <p:cNvCxnSpPr>
            <a:cxnSpLocks/>
            <a:stCxn id="64" idx="6"/>
            <a:endCxn id="19" idx="2"/>
          </p:cNvCxnSpPr>
          <p:nvPr/>
        </p:nvCxnSpPr>
        <p:spPr>
          <a:xfrm flipV="1">
            <a:off x="8755091" y="550712"/>
            <a:ext cx="109849" cy="948442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: angular 31">
            <a:extLst>
              <a:ext uri="{FF2B5EF4-FFF2-40B4-BE49-F238E27FC236}">
                <a16:creationId xmlns:a16="http://schemas.microsoft.com/office/drawing/2014/main" id="{3AF4541D-6236-4F12-8ADA-0F190BFDCF8E}"/>
              </a:ext>
            </a:extLst>
          </p:cNvPr>
          <p:cNvCxnSpPr>
            <a:cxnSpLocks/>
            <a:endCxn id="2" idx="2"/>
          </p:cNvCxnSpPr>
          <p:nvPr/>
        </p:nvCxnSpPr>
        <p:spPr>
          <a:xfrm rot="16200000" flipV="1">
            <a:off x="7045494" y="610505"/>
            <a:ext cx="458844" cy="339258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9AAB24E2-47B6-42D0-9C4D-8AC2C761DD67}"/>
              </a:ext>
            </a:extLst>
          </p:cNvPr>
          <p:cNvSpPr txBox="1"/>
          <p:nvPr/>
        </p:nvSpPr>
        <p:spPr>
          <a:xfrm>
            <a:off x="254206" y="3078185"/>
            <a:ext cx="1084184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419" sz="1000" b="1" dirty="0">
                <a:latin typeface="Verdana" panose="020B0604030504040204" pitchFamily="34" charset="0"/>
                <a:ea typeface="Verdana" panose="020B0604030504040204" pitchFamily="34" charset="0"/>
              </a:rPr>
              <a:t>Mapa comparativo</a:t>
            </a:r>
          </a:p>
          <a:p>
            <a:pPr algn="just"/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Rendimiento promedio por provincia en matemáticas</a:t>
            </a:r>
          </a:p>
        </p:txBody>
      </p:sp>
      <p:cxnSp>
        <p:nvCxnSpPr>
          <p:cNvPr id="38" name="Conector: angular 37">
            <a:extLst>
              <a:ext uri="{FF2B5EF4-FFF2-40B4-BE49-F238E27FC236}">
                <a16:creationId xmlns:a16="http://schemas.microsoft.com/office/drawing/2014/main" id="{4C3F39DB-84CC-4468-9067-6320483EAE81}"/>
              </a:ext>
            </a:extLst>
          </p:cNvPr>
          <p:cNvCxnSpPr>
            <a:cxnSpLocks/>
            <a:stCxn id="58" idx="2"/>
            <a:endCxn id="35" idx="3"/>
          </p:cNvCxnSpPr>
          <p:nvPr/>
        </p:nvCxnSpPr>
        <p:spPr>
          <a:xfrm rot="10800000" flipV="1">
            <a:off x="1338390" y="3464997"/>
            <a:ext cx="920882" cy="121019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15DA48C9-A556-49FA-9DE3-6F2CCC3B1132}"/>
              </a:ext>
            </a:extLst>
          </p:cNvPr>
          <p:cNvSpPr txBox="1"/>
          <p:nvPr/>
        </p:nvSpPr>
        <p:spPr>
          <a:xfrm>
            <a:off x="5081535" y="5457781"/>
            <a:ext cx="1917097" cy="55399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419" sz="1000" b="1" dirty="0">
                <a:latin typeface="Verdana" panose="020B0604030504040204" pitchFamily="34" charset="0"/>
                <a:ea typeface="Verdana" panose="020B0604030504040204" pitchFamily="34" charset="0"/>
              </a:rPr>
              <a:t>Mapa comparativo</a:t>
            </a:r>
          </a:p>
          <a:p>
            <a:pPr algn="just"/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Rendimiento promedio por provincia en lengua</a:t>
            </a:r>
          </a:p>
        </p:txBody>
      </p:sp>
      <p:cxnSp>
        <p:nvCxnSpPr>
          <p:cNvPr id="42" name="Conector: angular 41">
            <a:extLst>
              <a:ext uri="{FF2B5EF4-FFF2-40B4-BE49-F238E27FC236}">
                <a16:creationId xmlns:a16="http://schemas.microsoft.com/office/drawing/2014/main" id="{EFA904FC-54F0-499D-BFE1-43E7F4053342}"/>
              </a:ext>
            </a:extLst>
          </p:cNvPr>
          <p:cNvCxnSpPr>
            <a:cxnSpLocks/>
            <a:stCxn id="21" idx="3"/>
            <a:endCxn id="40" idx="0"/>
          </p:cNvCxnSpPr>
          <p:nvPr/>
        </p:nvCxnSpPr>
        <p:spPr>
          <a:xfrm rot="5400000">
            <a:off x="5154955" y="4411584"/>
            <a:ext cx="1931327" cy="161067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uadroTexto 44">
            <a:extLst>
              <a:ext uri="{FF2B5EF4-FFF2-40B4-BE49-F238E27FC236}">
                <a16:creationId xmlns:a16="http://schemas.microsoft.com/office/drawing/2014/main" id="{EAA180E7-24AD-4EA2-BC1C-139FF17DCD8D}"/>
              </a:ext>
            </a:extLst>
          </p:cNvPr>
          <p:cNvSpPr txBox="1"/>
          <p:nvPr/>
        </p:nvSpPr>
        <p:spPr>
          <a:xfrm>
            <a:off x="394734" y="5380837"/>
            <a:ext cx="2064901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419" sz="1000" b="1" dirty="0">
                <a:latin typeface="Verdana" panose="020B0604030504040204" pitchFamily="34" charset="0"/>
                <a:ea typeface="Verdana" panose="020B0604030504040204" pitchFamily="34" charset="0"/>
              </a:rPr>
              <a:t>Tablas Top 5 (positivo)</a:t>
            </a:r>
          </a:p>
          <a:p>
            <a:pPr algn="just"/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Rendimiento promedio por provincia por tipo de conocimiento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B1C4255C-7FB5-4664-A998-2901E905FA3A}"/>
              </a:ext>
            </a:extLst>
          </p:cNvPr>
          <p:cNvSpPr/>
          <p:nvPr/>
        </p:nvSpPr>
        <p:spPr>
          <a:xfrm>
            <a:off x="5081535" y="1037265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53" name="Conector: angular 52">
            <a:extLst>
              <a:ext uri="{FF2B5EF4-FFF2-40B4-BE49-F238E27FC236}">
                <a16:creationId xmlns:a16="http://schemas.microsoft.com/office/drawing/2014/main" id="{3E2E528E-C7B7-4EA1-BC50-E2CB3E5714A4}"/>
              </a:ext>
            </a:extLst>
          </p:cNvPr>
          <p:cNvCxnSpPr>
            <a:stCxn id="51" idx="0"/>
            <a:endCxn id="9" idx="2"/>
          </p:cNvCxnSpPr>
          <p:nvPr/>
        </p:nvCxnSpPr>
        <p:spPr>
          <a:xfrm rot="16200000" flipV="1">
            <a:off x="4517547" y="437276"/>
            <a:ext cx="295508" cy="904469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lipse 54">
            <a:extLst>
              <a:ext uri="{FF2B5EF4-FFF2-40B4-BE49-F238E27FC236}">
                <a16:creationId xmlns:a16="http://schemas.microsoft.com/office/drawing/2014/main" id="{81594653-DAAA-48E4-8E90-DF7D149A52EE}"/>
              </a:ext>
            </a:extLst>
          </p:cNvPr>
          <p:cNvSpPr/>
          <p:nvPr/>
        </p:nvSpPr>
        <p:spPr>
          <a:xfrm>
            <a:off x="7408545" y="1009556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8" name="Elipse 57">
            <a:extLst>
              <a:ext uri="{FF2B5EF4-FFF2-40B4-BE49-F238E27FC236}">
                <a16:creationId xmlns:a16="http://schemas.microsoft.com/office/drawing/2014/main" id="{E11AD04A-B71C-4760-B44E-1D4018239A1E}"/>
              </a:ext>
            </a:extLst>
          </p:cNvPr>
          <p:cNvSpPr/>
          <p:nvPr/>
        </p:nvSpPr>
        <p:spPr>
          <a:xfrm>
            <a:off x="2259272" y="3428998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79" name="Grupo 78">
            <a:extLst>
              <a:ext uri="{FF2B5EF4-FFF2-40B4-BE49-F238E27FC236}">
                <a16:creationId xmlns:a16="http://schemas.microsoft.com/office/drawing/2014/main" id="{89E9C3D8-67AC-447C-A658-498A9A735026}"/>
              </a:ext>
            </a:extLst>
          </p:cNvPr>
          <p:cNvGrpSpPr/>
          <p:nvPr/>
        </p:nvGrpSpPr>
        <p:grpSpPr>
          <a:xfrm>
            <a:off x="62101" y="1417254"/>
            <a:ext cx="1509230" cy="738355"/>
            <a:chOff x="62101" y="1417254"/>
            <a:chExt cx="1509230" cy="738355"/>
          </a:xfrm>
        </p:grpSpPr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CFB5C8B7-0332-4D11-9179-CEFF0FE59A1B}"/>
                </a:ext>
              </a:extLst>
            </p:cNvPr>
            <p:cNvSpPr txBox="1"/>
            <p:nvPr/>
          </p:nvSpPr>
          <p:spPr>
            <a:xfrm>
              <a:off x="62101" y="1755499"/>
              <a:ext cx="1167307" cy="40011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 algn="just"/>
              <a:r>
                <a:rPr lang="es-419" sz="1000" b="1" dirty="0">
                  <a:latin typeface="Verdana" panose="020B0604030504040204" pitchFamily="34" charset="0"/>
                  <a:ea typeface="Verdana" panose="020B0604030504040204" pitchFamily="34" charset="0"/>
                </a:rPr>
                <a:t>Navegador </a:t>
              </a:r>
            </a:p>
            <a:p>
              <a:pPr algn="just"/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Página anterior</a:t>
              </a:r>
              <a:endParaRPr lang="es-AR" sz="10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cxnSp>
          <p:nvCxnSpPr>
            <p:cNvPr id="17" name="Conector: angular 16">
              <a:extLst>
                <a:ext uri="{FF2B5EF4-FFF2-40B4-BE49-F238E27FC236}">
                  <a16:creationId xmlns:a16="http://schemas.microsoft.com/office/drawing/2014/main" id="{305BF936-E3FB-43A1-BF0C-8AB608AB40B9}"/>
                </a:ext>
              </a:extLst>
            </p:cNvPr>
            <p:cNvCxnSpPr>
              <a:cxnSpLocks/>
              <a:stCxn id="61" idx="2"/>
              <a:endCxn id="13" idx="3"/>
            </p:cNvCxnSpPr>
            <p:nvPr/>
          </p:nvCxnSpPr>
          <p:spPr>
            <a:xfrm rot="10800000" flipV="1">
              <a:off x="1229409" y="1453254"/>
              <a:ext cx="269923" cy="502300"/>
            </a:xfrm>
            <a:prstGeom prst="bentConnector3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18685705-EDD6-41AD-8533-0F46AFA06291}"/>
                </a:ext>
              </a:extLst>
            </p:cNvPr>
            <p:cNvSpPr/>
            <p:nvPr/>
          </p:nvSpPr>
          <p:spPr>
            <a:xfrm>
              <a:off x="1499331" y="1417254"/>
              <a:ext cx="72000" cy="72000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>
              <a:solidFill>
                <a:srgbClr val="FF0000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64" name="Elipse 63">
            <a:extLst>
              <a:ext uri="{FF2B5EF4-FFF2-40B4-BE49-F238E27FC236}">
                <a16:creationId xmlns:a16="http://schemas.microsoft.com/office/drawing/2014/main" id="{7EF7BDC6-0F9E-437B-9382-3B227C3A4A5F}"/>
              </a:ext>
            </a:extLst>
          </p:cNvPr>
          <p:cNvSpPr/>
          <p:nvPr/>
        </p:nvSpPr>
        <p:spPr>
          <a:xfrm>
            <a:off x="8683091" y="1463154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C2D2B2C0-7991-4E7E-967E-5443EF03D49A}"/>
              </a:ext>
            </a:extLst>
          </p:cNvPr>
          <p:cNvSpPr/>
          <p:nvPr/>
        </p:nvSpPr>
        <p:spPr>
          <a:xfrm>
            <a:off x="6190607" y="3464998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71CF1806-5F99-4C55-98D7-421166DADB2A}"/>
              </a:ext>
            </a:extLst>
          </p:cNvPr>
          <p:cNvSpPr/>
          <p:nvPr/>
        </p:nvSpPr>
        <p:spPr>
          <a:xfrm>
            <a:off x="4141066" y="3193014"/>
            <a:ext cx="72000" cy="72000"/>
          </a:xfrm>
          <a:prstGeom prst="ellipse">
            <a:avLst/>
          </a:prstGeom>
          <a:solidFill>
            <a:srgbClr val="7030A0">
              <a:alpha val="50000"/>
            </a:srgbClr>
          </a:solidFill>
          <a:ln>
            <a:solidFill>
              <a:srgbClr val="7030A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B3FA4044-BF1F-478E-B0B6-E16114B087AE}"/>
              </a:ext>
            </a:extLst>
          </p:cNvPr>
          <p:cNvSpPr/>
          <p:nvPr/>
        </p:nvSpPr>
        <p:spPr>
          <a:xfrm>
            <a:off x="7942936" y="3229014"/>
            <a:ext cx="72000" cy="72000"/>
          </a:xfrm>
          <a:prstGeom prst="ellipse">
            <a:avLst/>
          </a:prstGeom>
          <a:solidFill>
            <a:srgbClr val="7030A0">
              <a:alpha val="50000"/>
            </a:srgbClr>
          </a:solidFill>
          <a:ln>
            <a:solidFill>
              <a:srgbClr val="7030A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8034E664-8F00-4B20-91A2-9F8FF109BDE1}"/>
              </a:ext>
            </a:extLst>
          </p:cNvPr>
          <p:cNvCxnSpPr>
            <a:stCxn id="25" idx="0"/>
            <a:endCxn id="45" idx="3"/>
          </p:cNvCxnSpPr>
          <p:nvPr/>
        </p:nvCxnSpPr>
        <p:spPr>
          <a:xfrm rot="16200000" flipH="1" flipV="1">
            <a:off x="2047468" y="3605181"/>
            <a:ext cx="2541766" cy="1717431"/>
          </a:xfrm>
          <a:prstGeom prst="bentConnector4">
            <a:avLst>
              <a:gd name="adj1" fmla="val 10992"/>
              <a:gd name="adj2" fmla="val 51048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E68EB113-46A1-4085-B911-133CFEB7C509}"/>
              </a:ext>
            </a:extLst>
          </p:cNvPr>
          <p:cNvCxnSpPr>
            <a:stCxn id="27" idx="2"/>
            <a:endCxn id="45" idx="3"/>
          </p:cNvCxnSpPr>
          <p:nvPr/>
        </p:nvCxnSpPr>
        <p:spPr>
          <a:xfrm rot="10800000" flipV="1">
            <a:off x="2459636" y="3265014"/>
            <a:ext cx="5483301" cy="2469766"/>
          </a:xfrm>
          <a:prstGeom prst="bentConnector3">
            <a:avLst>
              <a:gd name="adj1" fmla="val 53537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0D6374B-BC54-4F20-ACA8-BAB7CB6BD2F4}"/>
              </a:ext>
            </a:extLst>
          </p:cNvPr>
          <p:cNvSpPr txBox="1"/>
          <p:nvPr/>
        </p:nvSpPr>
        <p:spPr>
          <a:xfrm>
            <a:off x="7105287" y="6111005"/>
            <a:ext cx="2064901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419" sz="1000" b="1" dirty="0">
                <a:latin typeface="Verdana" panose="020B0604030504040204" pitchFamily="34" charset="0"/>
                <a:ea typeface="Verdana" panose="020B0604030504040204" pitchFamily="34" charset="0"/>
              </a:rPr>
              <a:t>Tablas Top 5 (negativo)</a:t>
            </a:r>
          </a:p>
          <a:p>
            <a:pPr algn="just"/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Rendimiento promedio por provincia por tipo de conocimiento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BF99A6BD-3CFD-42A0-9CCA-31CBACC2E93E}"/>
              </a:ext>
            </a:extLst>
          </p:cNvPr>
          <p:cNvSpPr/>
          <p:nvPr/>
        </p:nvSpPr>
        <p:spPr>
          <a:xfrm>
            <a:off x="4161714" y="5077688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3F1DAEB1-E5B0-4123-AAF8-8053B0D99C16}"/>
              </a:ext>
            </a:extLst>
          </p:cNvPr>
          <p:cNvSpPr/>
          <p:nvPr/>
        </p:nvSpPr>
        <p:spPr>
          <a:xfrm>
            <a:off x="7999300" y="5077688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2" name="Conector: angular 21">
            <a:extLst>
              <a:ext uri="{FF2B5EF4-FFF2-40B4-BE49-F238E27FC236}">
                <a16:creationId xmlns:a16="http://schemas.microsoft.com/office/drawing/2014/main" id="{802A6517-FA78-4943-B4B5-5E9C75B9BE90}"/>
              </a:ext>
            </a:extLst>
          </p:cNvPr>
          <p:cNvCxnSpPr>
            <a:stCxn id="39" idx="5"/>
            <a:endCxn id="33" idx="0"/>
          </p:cNvCxnSpPr>
          <p:nvPr/>
        </p:nvCxnSpPr>
        <p:spPr>
          <a:xfrm rot="16200000" flipH="1">
            <a:off x="7613317" y="5586583"/>
            <a:ext cx="971861" cy="76982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B3FCEBCC-1DDF-4DB6-9446-C7EF1BEB87E6}"/>
              </a:ext>
            </a:extLst>
          </p:cNvPr>
          <p:cNvCxnSpPr>
            <a:stCxn id="37" idx="4"/>
            <a:endCxn id="33" idx="1"/>
          </p:cNvCxnSpPr>
          <p:nvPr/>
        </p:nvCxnSpPr>
        <p:spPr>
          <a:xfrm rot="16200000" flipH="1">
            <a:off x="4993870" y="4353531"/>
            <a:ext cx="1315260" cy="2907573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Elipse 43">
            <a:extLst>
              <a:ext uri="{FF2B5EF4-FFF2-40B4-BE49-F238E27FC236}">
                <a16:creationId xmlns:a16="http://schemas.microsoft.com/office/drawing/2014/main" id="{16C314E3-772D-4A3B-B9F7-D0A8B54F2BA7}"/>
              </a:ext>
            </a:extLst>
          </p:cNvPr>
          <p:cNvSpPr/>
          <p:nvPr/>
        </p:nvSpPr>
        <p:spPr>
          <a:xfrm>
            <a:off x="9805935" y="1535154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7BC471D3-2D00-47E3-A7CB-CF1915252F9B}"/>
              </a:ext>
            </a:extLst>
          </p:cNvPr>
          <p:cNvSpPr/>
          <p:nvPr/>
        </p:nvSpPr>
        <p:spPr>
          <a:xfrm>
            <a:off x="9713309" y="4319918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736D456B-DC69-4BC3-873D-80FB456EC233}"/>
              </a:ext>
            </a:extLst>
          </p:cNvPr>
          <p:cNvSpPr/>
          <p:nvPr/>
        </p:nvSpPr>
        <p:spPr>
          <a:xfrm>
            <a:off x="10226190" y="5647083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272325D6-105F-461D-A7F0-A6879C1E6709}"/>
              </a:ext>
            </a:extLst>
          </p:cNvPr>
          <p:cNvSpPr txBox="1"/>
          <p:nvPr/>
        </p:nvSpPr>
        <p:spPr>
          <a:xfrm>
            <a:off x="11039747" y="1130843"/>
            <a:ext cx="987771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Texto plano </a:t>
            </a:r>
            <a:b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explicativo</a:t>
            </a:r>
            <a:endParaRPr lang="es-AR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30" name="Conector: angular 29">
            <a:extLst>
              <a:ext uri="{FF2B5EF4-FFF2-40B4-BE49-F238E27FC236}">
                <a16:creationId xmlns:a16="http://schemas.microsoft.com/office/drawing/2014/main" id="{DC6F9848-15F1-4340-93A1-A449743DD070}"/>
              </a:ext>
            </a:extLst>
          </p:cNvPr>
          <p:cNvCxnSpPr>
            <a:cxnSpLocks/>
            <a:endCxn id="48" idx="1"/>
          </p:cNvCxnSpPr>
          <p:nvPr/>
        </p:nvCxnSpPr>
        <p:spPr>
          <a:xfrm flipV="1">
            <a:off x="9913935" y="1330898"/>
            <a:ext cx="1125812" cy="240256"/>
          </a:xfrm>
          <a:prstGeom prst="bentConnector3">
            <a:avLst>
              <a:gd name="adj1" fmla="val 7625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: angular 33">
            <a:extLst>
              <a:ext uri="{FF2B5EF4-FFF2-40B4-BE49-F238E27FC236}">
                <a16:creationId xmlns:a16="http://schemas.microsoft.com/office/drawing/2014/main" id="{D64AEDB4-5C73-47F1-A38E-7011BB49ED3E}"/>
              </a:ext>
            </a:extLst>
          </p:cNvPr>
          <p:cNvCxnSpPr>
            <a:stCxn id="46" idx="0"/>
            <a:endCxn id="48" idx="2"/>
          </p:cNvCxnSpPr>
          <p:nvPr/>
        </p:nvCxnSpPr>
        <p:spPr>
          <a:xfrm rot="5400000" flipH="1" flipV="1">
            <a:off x="9246989" y="2033274"/>
            <a:ext cx="2788965" cy="1784324"/>
          </a:xfrm>
          <a:prstGeom prst="bentConnector3">
            <a:avLst>
              <a:gd name="adj1" fmla="val 32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: angular 55">
            <a:extLst>
              <a:ext uri="{FF2B5EF4-FFF2-40B4-BE49-F238E27FC236}">
                <a16:creationId xmlns:a16="http://schemas.microsoft.com/office/drawing/2014/main" id="{5A6A9EED-6478-4DFB-B39D-F27C00D1D00D}"/>
              </a:ext>
            </a:extLst>
          </p:cNvPr>
          <p:cNvCxnSpPr>
            <a:stCxn id="47" idx="0"/>
            <a:endCxn id="48" idx="2"/>
          </p:cNvCxnSpPr>
          <p:nvPr/>
        </p:nvCxnSpPr>
        <p:spPr>
          <a:xfrm rot="5400000" flipH="1" flipV="1">
            <a:off x="8839846" y="2953297"/>
            <a:ext cx="4116130" cy="1271443"/>
          </a:xfrm>
          <a:prstGeom prst="bentConnector3">
            <a:avLst>
              <a:gd name="adj1" fmla="val -71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2B1F5664-C798-472F-8D24-F8B25FCDDC7C}"/>
              </a:ext>
            </a:extLst>
          </p:cNvPr>
          <p:cNvSpPr txBox="1"/>
          <p:nvPr/>
        </p:nvSpPr>
        <p:spPr>
          <a:xfrm>
            <a:off x="10625141" y="2982793"/>
            <a:ext cx="580608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Filtros</a:t>
            </a:r>
            <a:endParaRPr lang="es-AR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5" name="Elipse 64">
            <a:extLst>
              <a:ext uri="{FF2B5EF4-FFF2-40B4-BE49-F238E27FC236}">
                <a16:creationId xmlns:a16="http://schemas.microsoft.com/office/drawing/2014/main" id="{48BFB5D4-EAF1-4C19-87B4-47012CBCDAA3}"/>
              </a:ext>
            </a:extLst>
          </p:cNvPr>
          <p:cNvSpPr/>
          <p:nvPr/>
        </p:nvSpPr>
        <p:spPr>
          <a:xfrm>
            <a:off x="9867671" y="2623292"/>
            <a:ext cx="72000" cy="72000"/>
          </a:xfrm>
          <a:prstGeom prst="ellipse">
            <a:avLst/>
          </a:prstGeom>
          <a:solidFill>
            <a:srgbClr val="FFFF00">
              <a:alpha val="50000"/>
            </a:srgbClr>
          </a:solidFill>
          <a:ln>
            <a:solidFill>
              <a:srgbClr val="FFFF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6" name="Elipse 65">
            <a:extLst>
              <a:ext uri="{FF2B5EF4-FFF2-40B4-BE49-F238E27FC236}">
                <a16:creationId xmlns:a16="http://schemas.microsoft.com/office/drawing/2014/main" id="{343214D6-0543-49B0-A4D2-C90B6E8EA7B0}"/>
              </a:ext>
            </a:extLst>
          </p:cNvPr>
          <p:cNvSpPr/>
          <p:nvPr/>
        </p:nvSpPr>
        <p:spPr>
          <a:xfrm>
            <a:off x="9862463" y="3241744"/>
            <a:ext cx="72000" cy="72000"/>
          </a:xfrm>
          <a:prstGeom prst="ellipse">
            <a:avLst/>
          </a:prstGeom>
          <a:solidFill>
            <a:srgbClr val="FFFF00">
              <a:alpha val="50000"/>
            </a:srgbClr>
          </a:solidFill>
          <a:ln>
            <a:solidFill>
              <a:srgbClr val="FFFF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7" name="Elipse 66">
            <a:extLst>
              <a:ext uri="{FF2B5EF4-FFF2-40B4-BE49-F238E27FC236}">
                <a16:creationId xmlns:a16="http://schemas.microsoft.com/office/drawing/2014/main" id="{8AA447B8-5DF2-4551-A180-3909B92341F0}"/>
              </a:ext>
            </a:extLst>
          </p:cNvPr>
          <p:cNvSpPr/>
          <p:nvPr/>
        </p:nvSpPr>
        <p:spPr>
          <a:xfrm>
            <a:off x="9862463" y="3819431"/>
            <a:ext cx="72000" cy="72000"/>
          </a:xfrm>
          <a:prstGeom prst="ellipse">
            <a:avLst/>
          </a:prstGeom>
          <a:solidFill>
            <a:srgbClr val="FFFF00">
              <a:alpha val="50000"/>
            </a:srgbClr>
          </a:solidFill>
          <a:ln>
            <a:solidFill>
              <a:srgbClr val="FFFF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60" name="Conector: angular 59">
            <a:extLst>
              <a:ext uri="{FF2B5EF4-FFF2-40B4-BE49-F238E27FC236}">
                <a16:creationId xmlns:a16="http://schemas.microsoft.com/office/drawing/2014/main" id="{8A2946DE-9897-4D10-A0C7-FBD7C05CC3D3}"/>
              </a:ext>
            </a:extLst>
          </p:cNvPr>
          <p:cNvCxnSpPr>
            <a:stCxn id="66" idx="6"/>
            <a:endCxn id="62" idx="1"/>
          </p:cNvCxnSpPr>
          <p:nvPr/>
        </p:nvCxnSpPr>
        <p:spPr>
          <a:xfrm flipV="1">
            <a:off x="9934463" y="3105904"/>
            <a:ext cx="690678" cy="171840"/>
          </a:xfrm>
          <a:prstGeom prst="bentConnector3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: angular 69">
            <a:extLst>
              <a:ext uri="{FF2B5EF4-FFF2-40B4-BE49-F238E27FC236}">
                <a16:creationId xmlns:a16="http://schemas.microsoft.com/office/drawing/2014/main" id="{F04A202A-D5A7-49D0-87E8-5FD2CFF96172}"/>
              </a:ext>
            </a:extLst>
          </p:cNvPr>
          <p:cNvCxnSpPr>
            <a:stCxn id="65" idx="6"/>
          </p:cNvCxnSpPr>
          <p:nvPr/>
        </p:nvCxnSpPr>
        <p:spPr>
          <a:xfrm>
            <a:off x="9939671" y="2659292"/>
            <a:ext cx="685470" cy="446611"/>
          </a:xfrm>
          <a:prstGeom prst="bentConnector3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: angular 71">
            <a:extLst>
              <a:ext uri="{FF2B5EF4-FFF2-40B4-BE49-F238E27FC236}">
                <a16:creationId xmlns:a16="http://schemas.microsoft.com/office/drawing/2014/main" id="{145D9920-B2CC-4A3A-BD77-4633A8B422E0}"/>
              </a:ext>
            </a:extLst>
          </p:cNvPr>
          <p:cNvCxnSpPr>
            <a:stCxn id="67" idx="6"/>
            <a:endCxn id="62" idx="1"/>
          </p:cNvCxnSpPr>
          <p:nvPr/>
        </p:nvCxnSpPr>
        <p:spPr>
          <a:xfrm flipV="1">
            <a:off x="9934463" y="3105904"/>
            <a:ext cx="690678" cy="749527"/>
          </a:xfrm>
          <a:prstGeom prst="bentConnector3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uadroTexto 72">
            <a:extLst>
              <a:ext uri="{FF2B5EF4-FFF2-40B4-BE49-F238E27FC236}">
                <a16:creationId xmlns:a16="http://schemas.microsoft.com/office/drawing/2014/main" id="{0237D462-9A46-4140-A108-AD49987B7D1E}"/>
              </a:ext>
            </a:extLst>
          </p:cNvPr>
          <p:cNvSpPr txBox="1"/>
          <p:nvPr/>
        </p:nvSpPr>
        <p:spPr>
          <a:xfrm>
            <a:off x="9959480" y="4554991"/>
            <a:ext cx="1478301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Filtro para medidas</a:t>
            </a:r>
            <a:b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con parámetro</a:t>
            </a:r>
            <a:endParaRPr lang="es-AR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E14375E0-7E4C-4CB3-81E6-FB013D9820D3}"/>
              </a:ext>
            </a:extLst>
          </p:cNvPr>
          <p:cNvSpPr/>
          <p:nvPr/>
        </p:nvSpPr>
        <p:spPr>
          <a:xfrm>
            <a:off x="9593567" y="4783446"/>
            <a:ext cx="72000" cy="72000"/>
          </a:xfrm>
          <a:prstGeom prst="ellipse">
            <a:avLst/>
          </a:prstGeom>
          <a:solidFill>
            <a:srgbClr val="FFFF00">
              <a:alpha val="50000"/>
            </a:srgbClr>
          </a:solidFill>
          <a:ln>
            <a:solidFill>
              <a:srgbClr val="FFFF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76" name="Conector: angular 75">
            <a:extLst>
              <a:ext uri="{FF2B5EF4-FFF2-40B4-BE49-F238E27FC236}">
                <a16:creationId xmlns:a16="http://schemas.microsoft.com/office/drawing/2014/main" id="{76617A73-7955-4DE1-9631-787E9F8FF2DA}"/>
              </a:ext>
            </a:extLst>
          </p:cNvPr>
          <p:cNvCxnSpPr>
            <a:cxnSpLocks/>
            <a:stCxn id="74" idx="5"/>
            <a:endCxn id="73" idx="1"/>
          </p:cNvCxnSpPr>
          <p:nvPr/>
        </p:nvCxnSpPr>
        <p:spPr>
          <a:xfrm rot="5400000" flipH="1" flipV="1">
            <a:off x="9762323" y="4647745"/>
            <a:ext cx="89856" cy="304457"/>
          </a:xfrm>
          <a:prstGeom prst="bentConnector4">
            <a:avLst>
              <a:gd name="adj1" fmla="val -254407"/>
              <a:gd name="adj2" fmla="val 51731"/>
            </a:avLst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D4D6C065-A7D4-4941-A756-62E4BA56BC8E}"/>
              </a:ext>
            </a:extLst>
          </p:cNvPr>
          <p:cNvSpPr txBox="1"/>
          <p:nvPr/>
        </p:nvSpPr>
        <p:spPr>
          <a:xfrm>
            <a:off x="1798338" y="2618776"/>
            <a:ext cx="276038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08027AA9-7418-4841-925B-77105AB87EBF}"/>
              </a:ext>
            </a:extLst>
          </p:cNvPr>
          <p:cNvSpPr txBox="1"/>
          <p:nvPr/>
        </p:nvSpPr>
        <p:spPr>
          <a:xfrm>
            <a:off x="5627555" y="2608295"/>
            <a:ext cx="276038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08A2CE11-236C-4AD2-A6FB-589A38DD39A7}"/>
              </a:ext>
            </a:extLst>
          </p:cNvPr>
          <p:cNvSpPr txBox="1"/>
          <p:nvPr/>
        </p:nvSpPr>
        <p:spPr>
          <a:xfrm>
            <a:off x="4594566" y="2380209"/>
            <a:ext cx="266420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4DC1E4EF-40AD-4884-900E-3968FA32A565}"/>
              </a:ext>
            </a:extLst>
          </p:cNvPr>
          <p:cNvSpPr txBox="1"/>
          <p:nvPr/>
        </p:nvSpPr>
        <p:spPr>
          <a:xfrm>
            <a:off x="4578230" y="4180355"/>
            <a:ext cx="266420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F2099C15-59DC-499F-8B60-9DAEB600EE84}"/>
              </a:ext>
            </a:extLst>
          </p:cNvPr>
          <p:cNvSpPr txBox="1"/>
          <p:nvPr/>
        </p:nvSpPr>
        <p:spPr>
          <a:xfrm>
            <a:off x="8491907" y="2372555"/>
            <a:ext cx="266420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AFAEB496-824E-4754-A0BF-1C77619A7B57}"/>
              </a:ext>
            </a:extLst>
          </p:cNvPr>
          <p:cNvSpPr txBox="1"/>
          <p:nvPr/>
        </p:nvSpPr>
        <p:spPr>
          <a:xfrm>
            <a:off x="8442918" y="4180355"/>
            <a:ext cx="266420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9979B0F2-3BFB-4671-89A3-74399F7DC08E}"/>
              </a:ext>
            </a:extLst>
          </p:cNvPr>
          <p:cNvSpPr txBox="1"/>
          <p:nvPr/>
        </p:nvSpPr>
        <p:spPr>
          <a:xfrm>
            <a:off x="9729253" y="4449356"/>
            <a:ext cx="266420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7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928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8D1F6DC-851A-44AF-99E3-92C168A2CD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95" t="14737" r="16842" b="9942"/>
          <a:stretch/>
        </p:blipFill>
        <p:spPr>
          <a:xfrm>
            <a:off x="1507957" y="846220"/>
            <a:ext cx="9176085" cy="516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354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ángulo 79">
            <a:extLst>
              <a:ext uri="{FF2B5EF4-FFF2-40B4-BE49-F238E27FC236}">
                <a16:creationId xmlns:a16="http://schemas.microsoft.com/office/drawing/2014/main" id="{44E40C3E-1BD0-4F5D-BF7F-5E63B7CAFC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8D1F6DC-851A-44AF-99E3-92C168A2CD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95" t="14737" r="16842" b="9942"/>
          <a:stretch/>
        </p:blipFill>
        <p:spPr>
          <a:xfrm>
            <a:off x="1507957" y="846220"/>
            <a:ext cx="9176085" cy="5165559"/>
          </a:xfrm>
          <a:prstGeom prst="rect">
            <a:avLst/>
          </a:prstGeom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86FD9745-EC65-4DC1-9D45-8934D047441A}"/>
              </a:ext>
            </a:extLst>
          </p:cNvPr>
          <p:cNvSpPr/>
          <p:nvPr/>
        </p:nvSpPr>
        <p:spPr>
          <a:xfrm>
            <a:off x="2162291" y="2995374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5563401D-70D4-479F-BC29-69A841FAFAC5}"/>
              </a:ext>
            </a:extLst>
          </p:cNvPr>
          <p:cNvSpPr/>
          <p:nvPr/>
        </p:nvSpPr>
        <p:spPr>
          <a:xfrm>
            <a:off x="5385781" y="3428999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7DA063F-C1D3-436D-9AFB-3A1897DBA49C}"/>
              </a:ext>
            </a:extLst>
          </p:cNvPr>
          <p:cNvSpPr/>
          <p:nvPr/>
        </p:nvSpPr>
        <p:spPr>
          <a:xfrm>
            <a:off x="7351107" y="1725871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D52FD642-8FF3-4FBE-8596-4D46CC1E2F30}"/>
              </a:ext>
            </a:extLst>
          </p:cNvPr>
          <p:cNvSpPr/>
          <p:nvPr/>
        </p:nvSpPr>
        <p:spPr>
          <a:xfrm>
            <a:off x="10196325" y="2015539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88B588F7-EA4A-4849-AF8D-B2D15EAAF88C}"/>
              </a:ext>
            </a:extLst>
          </p:cNvPr>
          <p:cNvSpPr/>
          <p:nvPr/>
        </p:nvSpPr>
        <p:spPr>
          <a:xfrm>
            <a:off x="8332182" y="3207811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F313DD25-D018-46EC-8918-6E969D3ADE0C}"/>
              </a:ext>
            </a:extLst>
          </p:cNvPr>
          <p:cNvSpPr/>
          <p:nvPr/>
        </p:nvSpPr>
        <p:spPr>
          <a:xfrm>
            <a:off x="10067161" y="3266072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48B5B4F3-D876-44BD-A676-1B11C8D9F4AF}"/>
              </a:ext>
            </a:extLst>
          </p:cNvPr>
          <p:cNvSpPr/>
          <p:nvPr/>
        </p:nvSpPr>
        <p:spPr>
          <a:xfrm>
            <a:off x="8332182" y="4196102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5361FE62-C068-4AAB-B6A4-23F4A2D24C37}"/>
              </a:ext>
            </a:extLst>
          </p:cNvPr>
          <p:cNvSpPr/>
          <p:nvPr/>
        </p:nvSpPr>
        <p:spPr>
          <a:xfrm>
            <a:off x="8895600" y="4196102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A0DFD432-422E-4CE3-8028-F7CF22207BD5}"/>
              </a:ext>
            </a:extLst>
          </p:cNvPr>
          <p:cNvSpPr/>
          <p:nvPr/>
        </p:nvSpPr>
        <p:spPr>
          <a:xfrm>
            <a:off x="8895600" y="5184393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D44C8A37-690F-4981-91DB-422A6DEB178B}"/>
              </a:ext>
            </a:extLst>
          </p:cNvPr>
          <p:cNvSpPr/>
          <p:nvPr/>
        </p:nvSpPr>
        <p:spPr>
          <a:xfrm>
            <a:off x="8332182" y="5193585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AE5D6579-6F65-4EE2-BD4D-48EF91ED7F22}"/>
              </a:ext>
            </a:extLst>
          </p:cNvPr>
          <p:cNvSpPr/>
          <p:nvPr/>
        </p:nvSpPr>
        <p:spPr>
          <a:xfrm>
            <a:off x="4217382" y="1596064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A335F531-E246-4241-9802-8FA014FD7FDD}"/>
              </a:ext>
            </a:extLst>
          </p:cNvPr>
          <p:cNvGrpSpPr/>
          <p:nvPr/>
        </p:nvGrpSpPr>
        <p:grpSpPr>
          <a:xfrm>
            <a:off x="8404182" y="314938"/>
            <a:ext cx="1555234" cy="905163"/>
            <a:chOff x="8404182" y="314938"/>
            <a:chExt cx="1555234" cy="905163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FB998F8E-1307-46AF-95D0-AC940B427F03}"/>
                </a:ext>
              </a:extLst>
            </p:cNvPr>
            <p:cNvSpPr txBox="1"/>
            <p:nvPr/>
          </p:nvSpPr>
          <p:spPr>
            <a:xfrm>
              <a:off x="8404182" y="314938"/>
              <a:ext cx="1555234" cy="40011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 algn="just"/>
              <a:r>
                <a:rPr lang="en-US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Panel de </a:t>
              </a: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navegación </a:t>
              </a:r>
              <a:b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a otras páginas</a:t>
              </a:r>
              <a:endParaRPr lang="es-AR" sz="10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4580928F-9733-47D9-83FE-51310FCE38D6}"/>
                </a:ext>
              </a:extLst>
            </p:cNvPr>
            <p:cNvSpPr/>
            <p:nvPr/>
          </p:nvSpPr>
          <p:spPr>
            <a:xfrm>
              <a:off x="9292764" y="1148101"/>
              <a:ext cx="72000" cy="72000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>
              <a:solidFill>
                <a:srgbClr val="FF0000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18" name="Conector: angular 17">
              <a:extLst>
                <a:ext uri="{FF2B5EF4-FFF2-40B4-BE49-F238E27FC236}">
                  <a16:creationId xmlns:a16="http://schemas.microsoft.com/office/drawing/2014/main" id="{9ECCF12D-306F-486A-B4CE-89523955DEB4}"/>
                </a:ext>
              </a:extLst>
            </p:cNvPr>
            <p:cNvCxnSpPr>
              <a:stCxn id="6" idx="6"/>
              <a:endCxn id="4" idx="2"/>
            </p:cNvCxnSpPr>
            <p:nvPr/>
          </p:nvCxnSpPr>
          <p:spPr>
            <a:xfrm flipH="1" flipV="1">
              <a:off x="9181799" y="715048"/>
              <a:ext cx="182965" cy="469053"/>
            </a:xfrm>
            <a:prstGeom prst="bentConnector4">
              <a:avLst>
                <a:gd name="adj1" fmla="val -124942"/>
                <a:gd name="adj2" fmla="val 53837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D6EF2801-B18C-4E22-A539-8222EFB1DC1F}"/>
              </a:ext>
            </a:extLst>
          </p:cNvPr>
          <p:cNvGrpSpPr/>
          <p:nvPr/>
        </p:nvGrpSpPr>
        <p:grpSpPr>
          <a:xfrm>
            <a:off x="80573" y="1474721"/>
            <a:ext cx="1509230" cy="738355"/>
            <a:chOff x="62101" y="1417254"/>
            <a:chExt cx="1509230" cy="738355"/>
          </a:xfrm>
        </p:grpSpPr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CF4D78C7-A793-47D3-B413-52A060D23A4B}"/>
                </a:ext>
              </a:extLst>
            </p:cNvPr>
            <p:cNvSpPr txBox="1"/>
            <p:nvPr/>
          </p:nvSpPr>
          <p:spPr>
            <a:xfrm>
              <a:off x="62101" y="1755499"/>
              <a:ext cx="1167307" cy="40011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 algn="just"/>
              <a:r>
                <a:rPr lang="es-419" sz="1000" b="1" dirty="0">
                  <a:latin typeface="Verdana" panose="020B0604030504040204" pitchFamily="34" charset="0"/>
                  <a:ea typeface="Verdana" panose="020B0604030504040204" pitchFamily="34" charset="0"/>
                </a:rPr>
                <a:t>Navegador </a:t>
              </a:r>
            </a:p>
            <a:p>
              <a:pPr algn="just"/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Página anterior</a:t>
              </a:r>
              <a:endParaRPr lang="es-AR" sz="10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cxnSp>
          <p:nvCxnSpPr>
            <p:cNvPr id="21" name="Conector: angular 20">
              <a:extLst>
                <a:ext uri="{FF2B5EF4-FFF2-40B4-BE49-F238E27FC236}">
                  <a16:creationId xmlns:a16="http://schemas.microsoft.com/office/drawing/2014/main" id="{B70EE34D-5FDD-40B5-91E4-38FEB37506A5}"/>
                </a:ext>
              </a:extLst>
            </p:cNvPr>
            <p:cNvCxnSpPr>
              <a:cxnSpLocks/>
              <a:stCxn id="22" idx="2"/>
              <a:endCxn id="20" idx="3"/>
            </p:cNvCxnSpPr>
            <p:nvPr/>
          </p:nvCxnSpPr>
          <p:spPr>
            <a:xfrm rot="10800000" flipV="1">
              <a:off x="1229409" y="1453254"/>
              <a:ext cx="269923" cy="502300"/>
            </a:xfrm>
            <a:prstGeom prst="bentConnector3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9B05420C-34AD-4ADE-961C-8CED1D9B926B}"/>
                </a:ext>
              </a:extLst>
            </p:cNvPr>
            <p:cNvSpPr/>
            <p:nvPr/>
          </p:nvSpPr>
          <p:spPr>
            <a:xfrm>
              <a:off x="1499331" y="1417254"/>
              <a:ext cx="72000" cy="72000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>
              <a:solidFill>
                <a:srgbClr val="FF0000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B8D6B0F5-9E73-49D3-9725-301CC0C38852}"/>
              </a:ext>
            </a:extLst>
          </p:cNvPr>
          <p:cNvGrpSpPr/>
          <p:nvPr/>
        </p:nvGrpSpPr>
        <p:grpSpPr>
          <a:xfrm>
            <a:off x="10599439" y="765152"/>
            <a:ext cx="1479536" cy="760945"/>
            <a:chOff x="10599439" y="765152"/>
            <a:chExt cx="1479536" cy="760945"/>
          </a:xfrm>
        </p:grpSpPr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DF683997-7BC0-474E-8B46-6A3A99BDB30C}"/>
                </a:ext>
              </a:extLst>
            </p:cNvPr>
            <p:cNvSpPr txBox="1"/>
            <p:nvPr/>
          </p:nvSpPr>
          <p:spPr>
            <a:xfrm>
              <a:off x="10844342" y="765152"/>
              <a:ext cx="1234633" cy="40011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 algn="just"/>
              <a:r>
                <a:rPr lang="es-419" sz="1000" b="1" dirty="0">
                  <a:latin typeface="Verdana" panose="020B0604030504040204" pitchFamily="34" charset="0"/>
                  <a:ea typeface="Verdana" panose="020B0604030504040204" pitchFamily="34" charset="0"/>
                </a:rPr>
                <a:t>Navegador </a:t>
              </a:r>
            </a:p>
            <a:p>
              <a:pPr algn="just"/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Página posterior</a:t>
              </a:r>
              <a:endParaRPr lang="es-AR" sz="10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cxnSp>
          <p:nvCxnSpPr>
            <p:cNvPr id="24" name="Conector: angular 23">
              <a:extLst>
                <a:ext uri="{FF2B5EF4-FFF2-40B4-BE49-F238E27FC236}">
                  <a16:creationId xmlns:a16="http://schemas.microsoft.com/office/drawing/2014/main" id="{40E40102-6F20-40EA-97E0-0C9D7C615F8B}"/>
                </a:ext>
              </a:extLst>
            </p:cNvPr>
            <p:cNvCxnSpPr>
              <a:cxnSpLocks/>
              <a:stCxn id="25" idx="6"/>
              <a:endCxn id="23" idx="2"/>
            </p:cNvCxnSpPr>
            <p:nvPr/>
          </p:nvCxnSpPr>
          <p:spPr>
            <a:xfrm flipV="1">
              <a:off x="10671439" y="1165262"/>
              <a:ext cx="790220" cy="324835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678C4A5C-8D9C-4A96-A31E-5E65B9B4075D}"/>
                </a:ext>
              </a:extLst>
            </p:cNvPr>
            <p:cNvSpPr/>
            <p:nvPr/>
          </p:nvSpPr>
          <p:spPr>
            <a:xfrm>
              <a:off x="10599439" y="1454097"/>
              <a:ext cx="72000" cy="72000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>
              <a:solidFill>
                <a:srgbClr val="FF0000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5" name="Elipse 4">
            <a:extLst>
              <a:ext uri="{FF2B5EF4-FFF2-40B4-BE49-F238E27FC236}">
                <a16:creationId xmlns:a16="http://schemas.microsoft.com/office/drawing/2014/main" id="{C72FAC53-D752-4BFA-B55D-3203E40195D1}"/>
              </a:ext>
            </a:extLst>
          </p:cNvPr>
          <p:cNvSpPr/>
          <p:nvPr/>
        </p:nvSpPr>
        <p:spPr>
          <a:xfrm>
            <a:off x="6688109" y="1140711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9" name="Conector: angular 28">
            <a:extLst>
              <a:ext uri="{FF2B5EF4-FFF2-40B4-BE49-F238E27FC236}">
                <a16:creationId xmlns:a16="http://schemas.microsoft.com/office/drawing/2014/main" id="{EC0517B2-9FCA-4CFB-BA0A-F2D6B523C26E}"/>
              </a:ext>
            </a:extLst>
          </p:cNvPr>
          <p:cNvCxnSpPr>
            <a:cxnSpLocks/>
            <a:stCxn id="5" idx="2"/>
            <a:endCxn id="27" idx="2"/>
          </p:cNvCxnSpPr>
          <p:nvPr/>
        </p:nvCxnSpPr>
        <p:spPr>
          <a:xfrm rot="10800000">
            <a:off x="6005799" y="668881"/>
            <a:ext cx="682310" cy="50783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4C3DFAD-8C81-4E06-93AA-6DD5736B5C72}"/>
              </a:ext>
            </a:extLst>
          </p:cNvPr>
          <p:cNvSpPr txBox="1"/>
          <p:nvPr/>
        </p:nvSpPr>
        <p:spPr>
          <a:xfrm>
            <a:off x="5715495" y="422660"/>
            <a:ext cx="580608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Filtros</a:t>
            </a:r>
            <a:endParaRPr lang="es-AR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F11F3ACA-392F-4578-BC52-DF0E88BEB2C8}"/>
              </a:ext>
            </a:extLst>
          </p:cNvPr>
          <p:cNvSpPr txBox="1"/>
          <p:nvPr/>
        </p:nvSpPr>
        <p:spPr>
          <a:xfrm>
            <a:off x="7813304" y="5789008"/>
            <a:ext cx="1800493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b="1" dirty="0">
                <a:latin typeface="Verdana" panose="020B0604030504040204" pitchFamily="34" charset="0"/>
                <a:ea typeface="Verdana" panose="020B0604030504040204" pitchFamily="34" charset="0"/>
              </a:rPr>
              <a:t>Tarjetas dinámicas</a:t>
            </a:r>
            <a:b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para distintos tipos de </a:t>
            </a:r>
            <a:b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rendimientos bajo algún </a:t>
            </a:r>
            <a:b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tipo de control </a:t>
            </a:r>
            <a:endParaRPr lang="es-AR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43" name="Conector: angular 42">
            <a:extLst>
              <a:ext uri="{FF2B5EF4-FFF2-40B4-BE49-F238E27FC236}">
                <a16:creationId xmlns:a16="http://schemas.microsoft.com/office/drawing/2014/main" id="{0404E0F8-033A-4C1B-9FD9-BEABF37ACD84}"/>
              </a:ext>
            </a:extLst>
          </p:cNvPr>
          <p:cNvCxnSpPr>
            <a:stCxn id="11" idx="0"/>
          </p:cNvCxnSpPr>
          <p:nvPr/>
        </p:nvCxnSpPr>
        <p:spPr>
          <a:xfrm rot="16200000" flipH="1">
            <a:off x="7250267" y="4325725"/>
            <a:ext cx="2581197" cy="345368"/>
          </a:xfrm>
          <a:prstGeom prst="bentConnector3">
            <a:avLst>
              <a:gd name="adj1" fmla="val -885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: angular 44">
            <a:extLst>
              <a:ext uri="{FF2B5EF4-FFF2-40B4-BE49-F238E27FC236}">
                <a16:creationId xmlns:a16="http://schemas.microsoft.com/office/drawing/2014/main" id="{B5333160-7FBA-48DA-94E3-B907EF908A85}"/>
              </a:ext>
            </a:extLst>
          </p:cNvPr>
          <p:cNvCxnSpPr>
            <a:stCxn id="13" idx="6"/>
            <a:endCxn id="36" idx="0"/>
          </p:cNvCxnSpPr>
          <p:nvPr/>
        </p:nvCxnSpPr>
        <p:spPr>
          <a:xfrm>
            <a:off x="8404182" y="4232102"/>
            <a:ext cx="309369" cy="1556906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: angular 46">
            <a:extLst>
              <a:ext uri="{FF2B5EF4-FFF2-40B4-BE49-F238E27FC236}">
                <a16:creationId xmlns:a16="http://schemas.microsoft.com/office/drawing/2014/main" id="{52266FF6-581B-40A8-B050-3499CCFC2A28}"/>
              </a:ext>
            </a:extLst>
          </p:cNvPr>
          <p:cNvCxnSpPr>
            <a:stCxn id="14" idx="2"/>
            <a:endCxn id="36" idx="0"/>
          </p:cNvCxnSpPr>
          <p:nvPr/>
        </p:nvCxnSpPr>
        <p:spPr>
          <a:xfrm rot="10800000" flipV="1">
            <a:off x="8713552" y="4232102"/>
            <a:ext cx="182049" cy="1556906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angular 48">
            <a:extLst>
              <a:ext uri="{FF2B5EF4-FFF2-40B4-BE49-F238E27FC236}">
                <a16:creationId xmlns:a16="http://schemas.microsoft.com/office/drawing/2014/main" id="{DC2C2905-AC27-4CAE-9F74-ECAA57B725F0}"/>
              </a:ext>
            </a:extLst>
          </p:cNvPr>
          <p:cNvCxnSpPr>
            <a:stCxn id="16" idx="6"/>
          </p:cNvCxnSpPr>
          <p:nvPr/>
        </p:nvCxnSpPr>
        <p:spPr>
          <a:xfrm>
            <a:off x="8404182" y="5229585"/>
            <a:ext cx="309368" cy="559423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: angular 50">
            <a:extLst>
              <a:ext uri="{FF2B5EF4-FFF2-40B4-BE49-F238E27FC236}">
                <a16:creationId xmlns:a16="http://schemas.microsoft.com/office/drawing/2014/main" id="{7ECA18F6-522A-428F-B90F-2F50FA3B7238}"/>
              </a:ext>
            </a:extLst>
          </p:cNvPr>
          <p:cNvCxnSpPr>
            <a:stCxn id="15" idx="1"/>
            <a:endCxn id="36" idx="0"/>
          </p:cNvCxnSpPr>
          <p:nvPr/>
        </p:nvCxnSpPr>
        <p:spPr>
          <a:xfrm rot="16200000" flipH="1" flipV="1">
            <a:off x="8512812" y="5395675"/>
            <a:ext cx="594071" cy="192593"/>
          </a:xfrm>
          <a:prstGeom prst="bentConnector3">
            <a:avLst>
              <a:gd name="adj1" fmla="val -4025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uadroTexto 53">
            <a:extLst>
              <a:ext uri="{FF2B5EF4-FFF2-40B4-BE49-F238E27FC236}">
                <a16:creationId xmlns:a16="http://schemas.microsoft.com/office/drawing/2014/main" id="{2632202C-6C5C-4ADA-B045-36E89D402C64}"/>
              </a:ext>
            </a:extLst>
          </p:cNvPr>
          <p:cNvSpPr txBox="1"/>
          <p:nvPr/>
        </p:nvSpPr>
        <p:spPr>
          <a:xfrm>
            <a:off x="4630105" y="5789008"/>
            <a:ext cx="2170787" cy="55399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b="1" dirty="0">
                <a:latin typeface="Verdana" panose="020B0604030504040204" pitchFamily="34" charset="0"/>
                <a:ea typeface="Verdana" panose="020B0604030504040204" pitchFamily="34" charset="0"/>
              </a:rPr>
              <a:t>Mapa de formas</a:t>
            </a:r>
          </a:p>
          <a:p>
            <a:pPr algn="just"/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Muestra el distrito y el tipo de </a:t>
            </a:r>
            <a:b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conocimiento seleccionado</a:t>
            </a:r>
          </a:p>
        </p:txBody>
      </p:sp>
      <p:cxnSp>
        <p:nvCxnSpPr>
          <p:cNvPr id="56" name="Conector: angular 55">
            <a:extLst>
              <a:ext uri="{FF2B5EF4-FFF2-40B4-BE49-F238E27FC236}">
                <a16:creationId xmlns:a16="http://schemas.microsoft.com/office/drawing/2014/main" id="{B289B5D3-E7B5-44FE-B938-053400ADCC1B}"/>
              </a:ext>
            </a:extLst>
          </p:cNvPr>
          <p:cNvCxnSpPr>
            <a:stCxn id="8" idx="0"/>
            <a:endCxn id="54" idx="0"/>
          </p:cNvCxnSpPr>
          <p:nvPr/>
        </p:nvCxnSpPr>
        <p:spPr>
          <a:xfrm rot="16200000" flipH="1">
            <a:off x="4388635" y="4462144"/>
            <a:ext cx="2360009" cy="293718"/>
          </a:xfrm>
          <a:prstGeom prst="bentConnector3">
            <a:avLst>
              <a:gd name="adj1" fmla="val -968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6564F06-8D51-4B4D-90B6-37890432162A}"/>
              </a:ext>
            </a:extLst>
          </p:cNvPr>
          <p:cNvSpPr txBox="1"/>
          <p:nvPr/>
        </p:nvSpPr>
        <p:spPr>
          <a:xfrm>
            <a:off x="4027100" y="438049"/>
            <a:ext cx="1393330" cy="55399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b="1" dirty="0">
                <a:latin typeface="Verdana" panose="020B0604030504040204" pitchFamily="34" charset="0"/>
                <a:ea typeface="Verdana" panose="020B0604030504040204" pitchFamily="34" charset="0"/>
              </a:rPr>
              <a:t>Tarjeta dinámica</a:t>
            </a:r>
            <a:b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para tipo de </a:t>
            </a:r>
            <a:b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conocimiento</a:t>
            </a:r>
            <a:endParaRPr lang="es-AR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59" name="Conector: angular 58">
            <a:extLst>
              <a:ext uri="{FF2B5EF4-FFF2-40B4-BE49-F238E27FC236}">
                <a16:creationId xmlns:a16="http://schemas.microsoft.com/office/drawing/2014/main" id="{6854756F-D980-47FE-B42E-BCD09E16E120}"/>
              </a:ext>
            </a:extLst>
          </p:cNvPr>
          <p:cNvCxnSpPr>
            <a:stCxn id="17" idx="0"/>
          </p:cNvCxnSpPr>
          <p:nvPr/>
        </p:nvCxnSpPr>
        <p:spPr>
          <a:xfrm rot="5400000" flipH="1" flipV="1">
            <a:off x="4158479" y="1060111"/>
            <a:ext cx="630857" cy="441050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uadroTexto 59">
            <a:extLst>
              <a:ext uri="{FF2B5EF4-FFF2-40B4-BE49-F238E27FC236}">
                <a16:creationId xmlns:a16="http://schemas.microsoft.com/office/drawing/2014/main" id="{8DDBF59D-7E1A-4CD2-8F5D-586B0B848E41}"/>
              </a:ext>
            </a:extLst>
          </p:cNvPr>
          <p:cNvSpPr txBox="1"/>
          <p:nvPr/>
        </p:nvSpPr>
        <p:spPr>
          <a:xfrm>
            <a:off x="10345350" y="2169600"/>
            <a:ext cx="1661625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419" sz="1000" b="1" dirty="0">
                <a:latin typeface="Verdana" panose="020B0604030504040204" pitchFamily="34" charset="0"/>
                <a:ea typeface="Verdana" panose="020B0604030504040204" pitchFamily="34" charset="0"/>
              </a:rPr>
              <a:t>Tarjeta dinámica </a:t>
            </a:r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para ranking del rendimiento promedio general por tipo de conocimiento y distrito seleccionados</a:t>
            </a:r>
            <a:endParaRPr lang="es-AR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62" name="Conector: angular 61">
            <a:extLst>
              <a:ext uri="{FF2B5EF4-FFF2-40B4-BE49-F238E27FC236}">
                <a16:creationId xmlns:a16="http://schemas.microsoft.com/office/drawing/2014/main" id="{0A1481D3-9AFB-43A8-BD3C-71D65EC43F06}"/>
              </a:ext>
            </a:extLst>
          </p:cNvPr>
          <p:cNvCxnSpPr>
            <a:cxnSpLocks/>
            <a:stCxn id="10" idx="6"/>
            <a:endCxn id="60" idx="0"/>
          </p:cNvCxnSpPr>
          <p:nvPr/>
        </p:nvCxnSpPr>
        <p:spPr>
          <a:xfrm>
            <a:off x="10268325" y="2051539"/>
            <a:ext cx="907838" cy="118061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uadroTexto 65">
            <a:extLst>
              <a:ext uri="{FF2B5EF4-FFF2-40B4-BE49-F238E27FC236}">
                <a16:creationId xmlns:a16="http://schemas.microsoft.com/office/drawing/2014/main" id="{92951B25-9492-491D-B2DD-3A8288EDAB8C}"/>
              </a:ext>
            </a:extLst>
          </p:cNvPr>
          <p:cNvSpPr txBox="1"/>
          <p:nvPr/>
        </p:nvSpPr>
        <p:spPr>
          <a:xfrm>
            <a:off x="10345350" y="3622574"/>
            <a:ext cx="1733625" cy="8617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419" sz="1000" b="1" dirty="0">
                <a:latin typeface="Verdana" panose="020B0604030504040204" pitchFamily="34" charset="0"/>
                <a:ea typeface="Verdana" panose="020B0604030504040204" pitchFamily="34" charset="0"/>
              </a:rPr>
              <a:t>Tarjeta dinámica </a:t>
            </a:r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para cantidad de alumnos por tipo de conocimiento y distrito seleccionados</a:t>
            </a:r>
            <a:endParaRPr lang="es-AR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69" name="Conector: angular 68">
            <a:extLst>
              <a:ext uri="{FF2B5EF4-FFF2-40B4-BE49-F238E27FC236}">
                <a16:creationId xmlns:a16="http://schemas.microsoft.com/office/drawing/2014/main" id="{ECA43E89-5FFF-4AD5-AFDF-521B8837EBD9}"/>
              </a:ext>
            </a:extLst>
          </p:cNvPr>
          <p:cNvCxnSpPr>
            <a:stCxn id="12" idx="7"/>
            <a:endCxn id="66" idx="0"/>
          </p:cNvCxnSpPr>
          <p:nvPr/>
        </p:nvCxnSpPr>
        <p:spPr>
          <a:xfrm rot="16200000" flipH="1">
            <a:off x="10497411" y="2907822"/>
            <a:ext cx="345958" cy="1083546"/>
          </a:xfrm>
          <a:prstGeom prst="bentConnector3">
            <a:avLst>
              <a:gd name="adj1" fmla="val 4651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uadroTexto 70">
            <a:extLst>
              <a:ext uri="{FF2B5EF4-FFF2-40B4-BE49-F238E27FC236}">
                <a16:creationId xmlns:a16="http://schemas.microsoft.com/office/drawing/2014/main" id="{B423B682-8264-41E8-80E3-7F373DB8E6F1}"/>
              </a:ext>
            </a:extLst>
          </p:cNvPr>
          <p:cNvSpPr txBox="1"/>
          <p:nvPr/>
        </p:nvSpPr>
        <p:spPr>
          <a:xfrm>
            <a:off x="6827338" y="161050"/>
            <a:ext cx="1415386" cy="55399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419" sz="1000" b="1" dirty="0">
                <a:latin typeface="Verdana" panose="020B0604030504040204" pitchFamily="34" charset="0"/>
                <a:ea typeface="Verdana" panose="020B0604030504040204" pitchFamily="34" charset="0"/>
              </a:rPr>
              <a:t>Tarjeta dinámica </a:t>
            </a:r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nombre del distrito seleccionado</a:t>
            </a:r>
            <a:endParaRPr lang="es-AR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74" name="Conector: angular 73">
            <a:extLst>
              <a:ext uri="{FF2B5EF4-FFF2-40B4-BE49-F238E27FC236}">
                <a16:creationId xmlns:a16="http://schemas.microsoft.com/office/drawing/2014/main" id="{8D22E7D9-9DB4-4450-A1E8-1963FD205688}"/>
              </a:ext>
            </a:extLst>
          </p:cNvPr>
          <p:cNvCxnSpPr>
            <a:cxnSpLocks/>
            <a:stCxn id="9" idx="6"/>
            <a:endCxn id="71" idx="2"/>
          </p:cNvCxnSpPr>
          <p:nvPr/>
        </p:nvCxnSpPr>
        <p:spPr>
          <a:xfrm flipV="1">
            <a:off x="7423107" y="715048"/>
            <a:ext cx="111924" cy="1046823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CuadroTexto 76">
            <a:extLst>
              <a:ext uri="{FF2B5EF4-FFF2-40B4-BE49-F238E27FC236}">
                <a16:creationId xmlns:a16="http://schemas.microsoft.com/office/drawing/2014/main" id="{019488EB-AEE3-49BD-809F-D26A366D078C}"/>
              </a:ext>
            </a:extLst>
          </p:cNvPr>
          <p:cNvSpPr txBox="1"/>
          <p:nvPr/>
        </p:nvSpPr>
        <p:spPr>
          <a:xfrm>
            <a:off x="135479" y="5814506"/>
            <a:ext cx="2224802" cy="8617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419" sz="1000" b="1" dirty="0">
                <a:latin typeface="Verdana" panose="020B0604030504040204" pitchFamily="34" charset="0"/>
                <a:ea typeface="Verdana" panose="020B0604030504040204" pitchFamily="34" charset="0"/>
              </a:rPr>
              <a:t>Gráfico de barras apiladas</a:t>
            </a:r>
            <a:b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permite mantener el contexto de comparación entre distritos por tipo de conocimiento seleccionado</a:t>
            </a:r>
            <a:endParaRPr lang="es-AR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79" name="Conector: angular 78">
            <a:extLst>
              <a:ext uri="{FF2B5EF4-FFF2-40B4-BE49-F238E27FC236}">
                <a16:creationId xmlns:a16="http://schemas.microsoft.com/office/drawing/2014/main" id="{E9354AAF-67F3-4CCA-901A-3033158B2032}"/>
              </a:ext>
            </a:extLst>
          </p:cNvPr>
          <p:cNvCxnSpPr>
            <a:stCxn id="7" idx="0"/>
            <a:endCxn id="77" idx="0"/>
          </p:cNvCxnSpPr>
          <p:nvPr/>
        </p:nvCxnSpPr>
        <p:spPr>
          <a:xfrm rot="16200000" flipH="1" flipV="1">
            <a:off x="313520" y="3929734"/>
            <a:ext cx="2819132" cy="950411"/>
          </a:xfrm>
          <a:prstGeom prst="bentConnector3">
            <a:avLst>
              <a:gd name="adj1" fmla="val -810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41AD3D3A-69C9-42AC-9B3C-6383323E39C9}"/>
              </a:ext>
            </a:extLst>
          </p:cNvPr>
          <p:cNvSpPr txBox="1"/>
          <p:nvPr/>
        </p:nvSpPr>
        <p:spPr>
          <a:xfrm>
            <a:off x="3369963" y="4276126"/>
            <a:ext cx="276038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5D0E4220-ABB6-4400-8A54-9E1C44AA0E1C}"/>
              </a:ext>
            </a:extLst>
          </p:cNvPr>
          <p:cNvSpPr txBox="1"/>
          <p:nvPr/>
        </p:nvSpPr>
        <p:spPr>
          <a:xfrm>
            <a:off x="8774715" y="2046489"/>
            <a:ext cx="266420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EF0FBAA2-A7E8-48AA-B7C2-9818507B9691}"/>
              </a:ext>
            </a:extLst>
          </p:cNvPr>
          <p:cNvSpPr txBox="1"/>
          <p:nvPr/>
        </p:nvSpPr>
        <p:spPr>
          <a:xfrm>
            <a:off x="6974329" y="2046489"/>
            <a:ext cx="266420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295C6232-DC13-44CA-9C5B-D74E29C82A8B}"/>
              </a:ext>
            </a:extLst>
          </p:cNvPr>
          <p:cNvSpPr txBox="1"/>
          <p:nvPr/>
        </p:nvSpPr>
        <p:spPr>
          <a:xfrm>
            <a:off x="6110822" y="2833779"/>
            <a:ext cx="276038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BBECC73A-4A71-46CA-8402-86CE7A11E349}"/>
              </a:ext>
            </a:extLst>
          </p:cNvPr>
          <p:cNvSpPr txBox="1"/>
          <p:nvPr/>
        </p:nvSpPr>
        <p:spPr>
          <a:xfrm>
            <a:off x="4367190" y="1602760"/>
            <a:ext cx="276038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6DA4719C-42E8-4573-B4E8-DDD5ABBAA326}"/>
              </a:ext>
            </a:extLst>
          </p:cNvPr>
          <p:cNvSpPr txBox="1"/>
          <p:nvPr/>
        </p:nvSpPr>
        <p:spPr>
          <a:xfrm>
            <a:off x="8769906" y="3179263"/>
            <a:ext cx="276038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7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8C8C33E5-4FC7-4C0F-AD49-ECDB5324BFFB}"/>
              </a:ext>
            </a:extLst>
          </p:cNvPr>
          <p:cNvSpPr txBox="1"/>
          <p:nvPr/>
        </p:nvSpPr>
        <p:spPr>
          <a:xfrm>
            <a:off x="6969520" y="3179263"/>
            <a:ext cx="276038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B32B9F31-D202-4902-A635-A88AA95B9666}"/>
              </a:ext>
            </a:extLst>
          </p:cNvPr>
          <p:cNvSpPr txBox="1"/>
          <p:nvPr/>
        </p:nvSpPr>
        <p:spPr>
          <a:xfrm>
            <a:off x="8842201" y="4168911"/>
            <a:ext cx="266420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9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27882057-EE72-4601-9DD7-885B3C74EDE0}"/>
              </a:ext>
            </a:extLst>
          </p:cNvPr>
          <p:cNvSpPr txBox="1"/>
          <p:nvPr/>
        </p:nvSpPr>
        <p:spPr>
          <a:xfrm>
            <a:off x="7041815" y="4168911"/>
            <a:ext cx="266420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8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5C79D9D4-AAF0-4429-83A2-7E3D96B6D9AF}"/>
              </a:ext>
            </a:extLst>
          </p:cNvPr>
          <p:cNvSpPr txBox="1"/>
          <p:nvPr/>
        </p:nvSpPr>
        <p:spPr>
          <a:xfrm>
            <a:off x="8791707" y="5340615"/>
            <a:ext cx="367408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11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FF6302F1-4281-4502-8D03-7185A5D034F9}"/>
              </a:ext>
            </a:extLst>
          </p:cNvPr>
          <p:cNvSpPr txBox="1"/>
          <p:nvPr/>
        </p:nvSpPr>
        <p:spPr>
          <a:xfrm>
            <a:off x="6991321" y="5340615"/>
            <a:ext cx="367408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10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368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98BA2D1-F283-44A7-8ADB-37BC5FA1C3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95" t="14737" r="16842" b="9708"/>
          <a:stretch/>
        </p:blipFill>
        <p:spPr>
          <a:xfrm>
            <a:off x="962526" y="1010652"/>
            <a:ext cx="9176085" cy="518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866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ángulo 80">
            <a:extLst>
              <a:ext uri="{FF2B5EF4-FFF2-40B4-BE49-F238E27FC236}">
                <a16:creationId xmlns:a16="http://schemas.microsoft.com/office/drawing/2014/main" id="{8B45849B-7473-43B4-B0DC-AEBBF08AAC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98BA2D1-F283-44A7-8ADB-37BC5FA1C3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95" t="14737" r="16842" b="9708"/>
          <a:stretch/>
        </p:blipFill>
        <p:spPr>
          <a:xfrm>
            <a:off x="1507957" y="838199"/>
            <a:ext cx="9176085" cy="5181601"/>
          </a:xfrm>
          <a:prstGeom prst="rect">
            <a:avLst/>
          </a:prstGeom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45491FFC-54F3-4646-A877-1B37F0446EAD}"/>
              </a:ext>
            </a:extLst>
          </p:cNvPr>
          <p:cNvGrpSpPr/>
          <p:nvPr/>
        </p:nvGrpSpPr>
        <p:grpSpPr>
          <a:xfrm>
            <a:off x="8404182" y="314938"/>
            <a:ext cx="1555234" cy="905163"/>
            <a:chOff x="8404182" y="314938"/>
            <a:chExt cx="1555234" cy="905163"/>
          </a:xfrm>
        </p:grpSpPr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79E47B4-8404-4BCA-BAD7-134331A312D0}"/>
                </a:ext>
              </a:extLst>
            </p:cNvPr>
            <p:cNvSpPr txBox="1"/>
            <p:nvPr/>
          </p:nvSpPr>
          <p:spPr>
            <a:xfrm>
              <a:off x="8404182" y="314938"/>
              <a:ext cx="1555234" cy="40011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 algn="just"/>
              <a:r>
                <a:rPr lang="en-US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Panel de </a:t>
              </a: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navegación </a:t>
              </a:r>
              <a:b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a otras páginas</a:t>
              </a:r>
              <a:endParaRPr lang="es-AR" sz="10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A7AC5F90-94DB-4170-BF6A-C8891849C9BA}"/>
                </a:ext>
              </a:extLst>
            </p:cNvPr>
            <p:cNvSpPr/>
            <p:nvPr/>
          </p:nvSpPr>
          <p:spPr>
            <a:xfrm>
              <a:off x="9292764" y="1148101"/>
              <a:ext cx="72000" cy="72000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>
              <a:solidFill>
                <a:srgbClr val="FF0000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21" name="Conector: angular 20">
              <a:extLst>
                <a:ext uri="{FF2B5EF4-FFF2-40B4-BE49-F238E27FC236}">
                  <a16:creationId xmlns:a16="http://schemas.microsoft.com/office/drawing/2014/main" id="{3FE52765-F78E-4420-B8D9-DCF51A1D1F81}"/>
                </a:ext>
              </a:extLst>
            </p:cNvPr>
            <p:cNvCxnSpPr>
              <a:stCxn id="20" idx="6"/>
              <a:endCxn id="19" idx="2"/>
            </p:cNvCxnSpPr>
            <p:nvPr/>
          </p:nvCxnSpPr>
          <p:spPr>
            <a:xfrm flipH="1" flipV="1">
              <a:off x="9181799" y="715048"/>
              <a:ext cx="182965" cy="469053"/>
            </a:xfrm>
            <a:prstGeom prst="bentConnector4">
              <a:avLst>
                <a:gd name="adj1" fmla="val -124942"/>
                <a:gd name="adj2" fmla="val 53837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AA93D1B5-0628-424F-B3ED-B83E28FB05B6}"/>
              </a:ext>
            </a:extLst>
          </p:cNvPr>
          <p:cNvGrpSpPr/>
          <p:nvPr/>
        </p:nvGrpSpPr>
        <p:grpSpPr>
          <a:xfrm>
            <a:off x="80573" y="1474721"/>
            <a:ext cx="1509230" cy="738355"/>
            <a:chOff x="62101" y="1417254"/>
            <a:chExt cx="1509230" cy="738355"/>
          </a:xfrm>
        </p:grpSpPr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53863ADA-F540-4E92-A764-C57C3DE38E2C}"/>
                </a:ext>
              </a:extLst>
            </p:cNvPr>
            <p:cNvSpPr txBox="1"/>
            <p:nvPr/>
          </p:nvSpPr>
          <p:spPr>
            <a:xfrm>
              <a:off x="62101" y="1755499"/>
              <a:ext cx="1167307" cy="40011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 algn="just"/>
              <a:r>
                <a:rPr lang="es-419" sz="1000" b="1" dirty="0">
                  <a:latin typeface="Verdana" panose="020B0604030504040204" pitchFamily="34" charset="0"/>
                  <a:ea typeface="Verdana" panose="020B0604030504040204" pitchFamily="34" charset="0"/>
                </a:rPr>
                <a:t>Navegador </a:t>
              </a:r>
            </a:p>
            <a:p>
              <a:pPr algn="just"/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Página anterior</a:t>
              </a:r>
              <a:endParaRPr lang="es-AR" sz="10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cxnSp>
          <p:nvCxnSpPr>
            <p:cNvPr id="17" name="Conector: angular 16">
              <a:extLst>
                <a:ext uri="{FF2B5EF4-FFF2-40B4-BE49-F238E27FC236}">
                  <a16:creationId xmlns:a16="http://schemas.microsoft.com/office/drawing/2014/main" id="{00563FD8-BCE4-409D-862D-9F6A7D5647B6}"/>
                </a:ext>
              </a:extLst>
            </p:cNvPr>
            <p:cNvCxnSpPr>
              <a:cxnSpLocks/>
              <a:stCxn id="18" idx="2"/>
              <a:endCxn id="16" idx="3"/>
            </p:cNvCxnSpPr>
            <p:nvPr/>
          </p:nvCxnSpPr>
          <p:spPr>
            <a:xfrm rot="10800000" flipV="1">
              <a:off x="1229409" y="1453254"/>
              <a:ext cx="269923" cy="502300"/>
            </a:xfrm>
            <a:prstGeom prst="bentConnector3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F1F6CB6A-BD58-40A7-AAEF-B4AD2BE858C6}"/>
                </a:ext>
              </a:extLst>
            </p:cNvPr>
            <p:cNvSpPr/>
            <p:nvPr/>
          </p:nvSpPr>
          <p:spPr>
            <a:xfrm>
              <a:off x="1499331" y="1417254"/>
              <a:ext cx="72000" cy="72000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>
              <a:solidFill>
                <a:srgbClr val="FF0000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D339BB2C-19B7-48F1-853E-6D0181FF6289}"/>
              </a:ext>
            </a:extLst>
          </p:cNvPr>
          <p:cNvGrpSpPr/>
          <p:nvPr/>
        </p:nvGrpSpPr>
        <p:grpSpPr>
          <a:xfrm>
            <a:off x="10599439" y="765152"/>
            <a:ext cx="1479536" cy="760945"/>
            <a:chOff x="10599439" y="765152"/>
            <a:chExt cx="1479536" cy="760945"/>
          </a:xfrm>
        </p:grpSpPr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6844C1BF-C128-4BC2-8F90-6A6A4BC15C7D}"/>
                </a:ext>
              </a:extLst>
            </p:cNvPr>
            <p:cNvSpPr txBox="1"/>
            <p:nvPr/>
          </p:nvSpPr>
          <p:spPr>
            <a:xfrm>
              <a:off x="10844342" y="765152"/>
              <a:ext cx="1234633" cy="40011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 algn="just"/>
              <a:r>
                <a:rPr lang="es-419" sz="1000" b="1" dirty="0">
                  <a:latin typeface="Verdana" panose="020B0604030504040204" pitchFamily="34" charset="0"/>
                  <a:ea typeface="Verdana" panose="020B0604030504040204" pitchFamily="34" charset="0"/>
                </a:rPr>
                <a:t>Navegador </a:t>
              </a:r>
            </a:p>
            <a:p>
              <a:pPr algn="just"/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Página posterior</a:t>
              </a:r>
              <a:endParaRPr lang="es-AR" sz="10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cxnSp>
          <p:nvCxnSpPr>
            <p:cNvPr id="14" name="Conector: angular 13">
              <a:extLst>
                <a:ext uri="{FF2B5EF4-FFF2-40B4-BE49-F238E27FC236}">
                  <a16:creationId xmlns:a16="http://schemas.microsoft.com/office/drawing/2014/main" id="{13D7ED4D-9622-44B3-A784-BFCC84F1C888}"/>
                </a:ext>
              </a:extLst>
            </p:cNvPr>
            <p:cNvCxnSpPr>
              <a:cxnSpLocks/>
              <a:stCxn id="15" idx="6"/>
              <a:endCxn id="13" idx="2"/>
            </p:cNvCxnSpPr>
            <p:nvPr/>
          </p:nvCxnSpPr>
          <p:spPr>
            <a:xfrm flipV="1">
              <a:off x="10671439" y="1165262"/>
              <a:ext cx="790220" cy="324835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281A7890-E632-47D7-AEBC-5BEEC2D9DB52}"/>
                </a:ext>
              </a:extLst>
            </p:cNvPr>
            <p:cNvSpPr/>
            <p:nvPr/>
          </p:nvSpPr>
          <p:spPr>
            <a:xfrm>
              <a:off x="10599439" y="1454097"/>
              <a:ext cx="72000" cy="72000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>
              <a:solidFill>
                <a:srgbClr val="FF0000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10" name="Elipse 9">
            <a:extLst>
              <a:ext uri="{FF2B5EF4-FFF2-40B4-BE49-F238E27FC236}">
                <a16:creationId xmlns:a16="http://schemas.microsoft.com/office/drawing/2014/main" id="{40C2DBE0-167F-411B-B56B-01BCDAAD6FDC}"/>
              </a:ext>
            </a:extLst>
          </p:cNvPr>
          <p:cNvSpPr/>
          <p:nvPr/>
        </p:nvSpPr>
        <p:spPr>
          <a:xfrm>
            <a:off x="6397805" y="1129262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C3E3FEA9-D392-4660-9B8E-CF3D5A685FEA}"/>
              </a:ext>
            </a:extLst>
          </p:cNvPr>
          <p:cNvCxnSpPr>
            <a:cxnSpLocks/>
            <a:stCxn id="10" idx="7"/>
            <a:endCxn id="12" idx="2"/>
          </p:cNvCxnSpPr>
          <p:nvPr/>
        </p:nvCxnSpPr>
        <p:spPr>
          <a:xfrm rot="5400000" flipH="1" flipV="1">
            <a:off x="6322834" y="774531"/>
            <a:ext cx="501703" cy="228848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14599CC-6989-4B4C-9C9A-D45D9E453A1F}"/>
              </a:ext>
            </a:extLst>
          </p:cNvPr>
          <p:cNvSpPr txBox="1"/>
          <p:nvPr/>
        </p:nvSpPr>
        <p:spPr>
          <a:xfrm>
            <a:off x="6397805" y="391882"/>
            <a:ext cx="580608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Filtros</a:t>
            </a:r>
            <a:endParaRPr lang="es-AR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1185C2B-89A5-4248-B6EC-0DE55A9B957A}"/>
              </a:ext>
            </a:extLst>
          </p:cNvPr>
          <p:cNvSpPr txBox="1"/>
          <p:nvPr/>
        </p:nvSpPr>
        <p:spPr>
          <a:xfrm>
            <a:off x="9680415" y="3722824"/>
            <a:ext cx="2235523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419" sz="1000" b="1" dirty="0">
                <a:latin typeface="Verdana" panose="020B0604030504040204" pitchFamily="34" charset="0"/>
                <a:ea typeface="Verdana" panose="020B0604030504040204" pitchFamily="34" charset="0"/>
              </a:rPr>
              <a:t>KPI para lengua </a:t>
            </a:r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muestra el rendimiento en lengua del distrito y grupo de alumnos por</a:t>
            </a:r>
            <a:b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educación de la madre, contra el promedio general del mismo distrito</a:t>
            </a:r>
            <a:endParaRPr lang="es-AR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6AE9C44-C75E-49F0-91B5-9A8DEB7F950B}"/>
              </a:ext>
            </a:extLst>
          </p:cNvPr>
          <p:cNvSpPr txBox="1"/>
          <p:nvPr/>
        </p:nvSpPr>
        <p:spPr>
          <a:xfrm>
            <a:off x="7387107" y="6180641"/>
            <a:ext cx="3781950" cy="55399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419" sz="1000" b="1" dirty="0">
                <a:latin typeface="Verdana" panose="020B0604030504040204" pitchFamily="34" charset="0"/>
                <a:ea typeface="Verdana" panose="020B0604030504040204" pitchFamily="34" charset="0"/>
              </a:rPr>
              <a:t>Gráfico de barras apilado </a:t>
            </a:r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compara los rendimientos promedio por tipo de conocimiento y nivel educativo de la madre</a:t>
            </a:r>
            <a:endParaRPr lang="es-AR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059A9E0A-868A-4693-B935-8A6E9CDE9A78}"/>
              </a:ext>
            </a:extLst>
          </p:cNvPr>
          <p:cNvSpPr/>
          <p:nvPr/>
        </p:nvSpPr>
        <p:spPr>
          <a:xfrm>
            <a:off x="7351107" y="3008160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130FFCAD-41FF-4FD5-A154-F47FD3C29BCC}"/>
              </a:ext>
            </a:extLst>
          </p:cNvPr>
          <p:cNvSpPr/>
          <p:nvPr/>
        </p:nvSpPr>
        <p:spPr>
          <a:xfrm>
            <a:off x="9644415" y="1857099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743E88B7-3690-42C6-AB9B-3FC5A211C09F}"/>
              </a:ext>
            </a:extLst>
          </p:cNvPr>
          <p:cNvSpPr/>
          <p:nvPr/>
        </p:nvSpPr>
        <p:spPr>
          <a:xfrm>
            <a:off x="9058182" y="4498260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80" name="Grupo 79">
            <a:extLst>
              <a:ext uri="{FF2B5EF4-FFF2-40B4-BE49-F238E27FC236}">
                <a16:creationId xmlns:a16="http://schemas.microsoft.com/office/drawing/2014/main" id="{6C27FF87-08B3-4DB3-A320-E853BA447C1F}"/>
              </a:ext>
            </a:extLst>
          </p:cNvPr>
          <p:cNvGrpSpPr/>
          <p:nvPr/>
        </p:nvGrpSpPr>
        <p:grpSpPr>
          <a:xfrm>
            <a:off x="276061" y="201610"/>
            <a:ext cx="2594096" cy="1560261"/>
            <a:chOff x="276061" y="201610"/>
            <a:chExt cx="2594096" cy="1560261"/>
          </a:xfrm>
        </p:grpSpPr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F3E60D50-E62D-4AA5-A50A-78646178360F}"/>
                </a:ext>
              </a:extLst>
            </p:cNvPr>
            <p:cNvSpPr/>
            <p:nvPr/>
          </p:nvSpPr>
          <p:spPr>
            <a:xfrm>
              <a:off x="2798157" y="1689871"/>
              <a:ext cx="72000" cy="72000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>
              <a:solidFill>
                <a:srgbClr val="FF0000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2866DA24-777F-4A9C-B859-A14861229D80}"/>
                </a:ext>
              </a:extLst>
            </p:cNvPr>
            <p:cNvSpPr txBox="1"/>
            <p:nvPr/>
          </p:nvSpPr>
          <p:spPr>
            <a:xfrm>
              <a:off x="276061" y="201610"/>
              <a:ext cx="2332690" cy="70788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 algn="just"/>
              <a:r>
                <a:rPr lang="es-419" sz="1000" b="1" dirty="0">
                  <a:latin typeface="Verdana" panose="020B0604030504040204" pitchFamily="34" charset="0"/>
                  <a:ea typeface="Verdana" panose="020B0604030504040204" pitchFamily="34" charset="0"/>
                </a:rPr>
                <a:t>Tarjeta dinámica</a:t>
              </a:r>
              <a:b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muestra el distrito seleccionado, </a:t>
              </a:r>
              <a:b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cuando la selección es “Todas”,</a:t>
              </a:r>
              <a:b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muestra “Argentina”</a:t>
              </a:r>
              <a:endParaRPr lang="es-AR" sz="10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cxnSp>
          <p:nvCxnSpPr>
            <p:cNvPr id="3" name="Conector: angular 2">
              <a:extLst>
                <a:ext uri="{FF2B5EF4-FFF2-40B4-BE49-F238E27FC236}">
                  <a16:creationId xmlns:a16="http://schemas.microsoft.com/office/drawing/2014/main" id="{49002ECD-CF23-4734-B3FC-60E049C3933D}"/>
                </a:ext>
              </a:extLst>
            </p:cNvPr>
            <p:cNvCxnSpPr>
              <a:stCxn id="35" idx="6"/>
              <a:endCxn id="44" idx="3"/>
            </p:cNvCxnSpPr>
            <p:nvPr/>
          </p:nvCxnSpPr>
          <p:spPr>
            <a:xfrm flipH="1" flipV="1">
              <a:off x="2608751" y="555553"/>
              <a:ext cx="261406" cy="1170318"/>
            </a:xfrm>
            <a:prstGeom prst="bentConnector3">
              <a:avLst>
                <a:gd name="adj1" fmla="val -8745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1FDFB45E-5BEA-4E34-AF99-BCF89A919794}"/>
              </a:ext>
            </a:extLst>
          </p:cNvPr>
          <p:cNvGrpSpPr/>
          <p:nvPr/>
        </p:nvGrpSpPr>
        <p:grpSpPr>
          <a:xfrm>
            <a:off x="3693183" y="77824"/>
            <a:ext cx="1555235" cy="1044010"/>
            <a:chOff x="3693183" y="77824"/>
            <a:chExt cx="1555235" cy="1044010"/>
          </a:xfrm>
        </p:grpSpPr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8649BBF3-AE13-4403-9BC2-F8B157271683}"/>
                </a:ext>
              </a:extLst>
            </p:cNvPr>
            <p:cNvSpPr txBox="1"/>
            <p:nvPr/>
          </p:nvSpPr>
          <p:spPr>
            <a:xfrm>
              <a:off x="3693183" y="77824"/>
              <a:ext cx="1555234" cy="86177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s-419" sz="1000" b="1" dirty="0">
                  <a:latin typeface="Verdana" panose="020B0604030504040204" pitchFamily="34" charset="0"/>
                  <a:ea typeface="Verdana" panose="020B0604030504040204" pitchFamily="34" charset="0"/>
                </a:rPr>
                <a:t>Bookmarks </a:t>
              </a: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por tipo </a:t>
              </a:r>
              <a:b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de conocimiento. </a:t>
              </a:r>
              <a:b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Modifica el mapa.</a:t>
              </a:r>
              <a:b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Deja los filtros en “Todas”</a:t>
              </a:r>
              <a:endParaRPr lang="es-AR" sz="10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7E531F57-66BA-4FA9-A3B3-38E11C37A278}"/>
                </a:ext>
              </a:extLst>
            </p:cNvPr>
            <p:cNvSpPr/>
            <p:nvPr/>
          </p:nvSpPr>
          <p:spPr>
            <a:xfrm>
              <a:off x="5176417" y="1049834"/>
              <a:ext cx="72000" cy="72000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>
              <a:solidFill>
                <a:srgbClr val="FF0000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45" name="Conector: angular 44">
              <a:extLst>
                <a:ext uri="{FF2B5EF4-FFF2-40B4-BE49-F238E27FC236}">
                  <a16:creationId xmlns:a16="http://schemas.microsoft.com/office/drawing/2014/main" id="{C7EDB695-8188-46BF-B680-1D91AAE7B332}"/>
                </a:ext>
              </a:extLst>
            </p:cNvPr>
            <p:cNvCxnSpPr>
              <a:stCxn id="36" idx="0"/>
              <a:endCxn id="29" idx="3"/>
            </p:cNvCxnSpPr>
            <p:nvPr/>
          </p:nvCxnSpPr>
          <p:spPr>
            <a:xfrm rot="5400000" flipH="1" flipV="1">
              <a:off x="4959856" y="761273"/>
              <a:ext cx="541123" cy="36000"/>
            </a:xfrm>
            <a:prstGeom prst="bentConnector4">
              <a:avLst>
                <a:gd name="adj1" fmla="val 10186"/>
                <a:gd name="adj2" fmla="val 735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upo 74">
            <a:extLst>
              <a:ext uri="{FF2B5EF4-FFF2-40B4-BE49-F238E27FC236}">
                <a16:creationId xmlns:a16="http://schemas.microsoft.com/office/drawing/2014/main" id="{2ADBC739-A826-4C87-9E6B-92AE148F9043}"/>
              </a:ext>
            </a:extLst>
          </p:cNvPr>
          <p:cNvGrpSpPr/>
          <p:nvPr/>
        </p:nvGrpSpPr>
        <p:grpSpPr>
          <a:xfrm>
            <a:off x="150121" y="2936160"/>
            <a:ext cx="1910411" cy="983335"/>
            <a:chOff x="150121" y="2936160"/>
            <a:chExt cx="1910411" cy="983335"/>
          </a:xfrm>
        </p:grpSpPr>
        <p:sp>
          <p:nvSpPr>
            <p:cNvPr id="34" name="Elipse 33">
              <a:extLst>
                <a:ext uri="{FF2B5EF4-FFF2-40B4-BE49-F238E27FC236}">
                  <a16:creationId xmlns:a16="http://schemas.microsoft.com/office/drawing/2014/main" id="{6ADAD92C-46FC-4D00-AA44-D3773664D544}"/>
                </a:ext>
              </a:extLst>
            </p:cNvPr>
            <p:cNvSpPr/>
            <p:nvPr/>
          </p:nvSpPr>
          <p:spPr>
            <a:xfrm>
              <a:off x="1988532" y="2936160"/>
              <a:ext cx="72000" cy="72000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>
              <a:solidFill>
                <a:srgbClr val="FF0000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4A29BBEA-0732-4BE8-B561-5946FB10C486}"/>
                </a:ext>
              </a:extLst>
            </p:cNvPr>
            <p:cNvSpPr txBox="1"/>
            <p:nvPr/>
          </p:nvSpPr>
          <p:spPr>
            <a:xfrm>
              <a:off x="150121" y="3365497"/>
              <a:ext cx="1367682" cy="55399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just"/>
              <a:r>
                <a:rPr lang="es-419" sz="1000" b="1" dirty="0">
                  <a:latin typeface="Verdana" panose="020B0604030504040204" pitchFamily="34" charset="0"/>
                  <a:ea typeface="Verdana" panose="020B0604030504040204" pitchFamily="34" charset="0"/>
                </a:rPr>
                <a:t>Mapa</a:t>
              </a:r>
              <a:b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focaliza el distrito </a:t>
              </a:r>
              <a:b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seleccionado</a:t>
              </a:r>
              <a:endParaRPr lang="es-AR" sz="10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cxnSp>
          <p:nvCxnSpPr>
            <p:cNvPr id="49" name="Conector: angular 48">
              <a:extLst>
                <a:ext uri="{FF2B5EF4-FFF2-40B4-BE49-F238E27FC236}">
                  <a16:creationId xmlns:a16="http://schemas.microsoft.com/office/drawing/2014/main" id="{93B3F6D3-A6E5-4874-A8A0-C94D7D963D0B}"/>
                </a:ext>
              </a:extLst>
            </p:cNvPr>
            <p:cNvCxnSpPr>
              <a:cxnSpLocks/>
              <a:stCxn id="34" idx="2"/>
              <a:endCxn id="43" idx="0"/>
            </p:cNvCxnSpPr>
            <p:nvPr/>
          </p:nvCxnSpPr>
          <p:spPr>
            <a:xfrm rot="10800000" flipV="1">
              <a:off x="833962" y="2972159"/>
              <a:ext cx="1154570" cy="393337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4E2AAD3E-8001-44B8-9324-8D8E4D851747}"/>
              </a:ext>
            </a:extLst>
          </p:cNvPr>
          <p:cNvGrpSpPr/>
          <p:nvPr/>
        </p:nvGrpSpPr>
        <p:grpSpPr>
          <a:xfrm>
            <a:off x="77234" y="4241085"/>
            <a:ext cx="2135698" cy="2209602"/>
            <a:chOff x="77234" y="4241085"/>
            <a:chExt cx="2135698" cy="2209602"/>
          </a:xfrm>
        </p:grpSpPr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7712F011-DB63-46FD-A63A-600D4DA67C9D}"/>
                </a:ext>
              </a:extLst>
            </p:cNvPr>
            <p:cNvSpPr txBox="1"/>
            <p:nvPr/>
          </p:nvSpPr>
          <p:spPr>
            <a:xfrm>
              <a:off x="77234" y="5588913"/>
              <a:ext cx="1983298" cy="86177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s-419" sz="1000" b="1" dirty="0">
                  <a:latin typeface="Verdana" panose="020B0604030504040204" pitchFamily="34" charset="0"/>
                  <a:ea typeface="Verdana" panose="020B0604030504040204" pitchFamily="34" charset="0"/>
                </a:rPr>
                <a:t>Treemap</a:t>
              </a:r>
              <a:b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muestra la composición</a:t>
              </a:r>
              <a:b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de la población de alumnos</a:t>
              </a:r>
              <a:b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seleccionada en los filtros,</a:t>
              </a:r>
              <a:b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por sexo</a:t>
              </a:r>
              <a:endParaRPr lang="es-AR" sz="10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F01169DA-1CDA-4D09-810F-2C365CF9AB20}"/>
                </a:ext>
              </a:extLst>
            </p:cNvPr>
            <p:cNvSpPr/>
            <p:nvPr/>
          </p:nvSpPr>
          <p:spPr>
            <a:xfrm>
              <a:off x="2140932" y="4241085"/>
              <a:ext cx="72000" cy="72000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>
              <a:solidFill>
                <a:srgbClr val="FF0000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52" name="Conector: angular 51">
              <a:extLst>
                <a:ext uri="{FF2B5EF4-FFF2-40B4-BE49-F238E27FC236}">
                  <a16:creationId xmlns:a16="http://schemas.microsoft.com/office/drawing/2014/main" id="{C78BF4F1-3733-44A0-9F9D-4B3E24A4070F}"/>
                </a:ext>
              </a:extLst>
            </p:cNvPr>
            <p:cNvCxnSpPr>
              <a:cxnSpLocks/>
              <a:stCxn id="33" idx="4"/>
              <a:endCxn id="24" idx="0"/>
            </p:cNvCxnSpPr>
            <p:nvPr/>
          </p:nvCxnSpPr>
          <p:spPr>
            <a:xfrm rot="5400000">
              <a:off x="984994" y="4396975"/>
              <a:ext cx="1275828" cy="1108049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upo 75">
            <a:extLst>
              <a:ext uri="{FF2B5EF4-FFF2-40B4-BE49-F238E27FC236}">
                <a16:creationId xmlns:a16="http://schemas.microsoft.com/office/drawing/2014/main" id="{803834F2-6E43-44C9-A6AF-3EF520244DDF}"/>
              </a:ext>
            </a:extLst>
          </p:cNvPr>
          <p:cNvGrpSpPr/>
          <p:nvPr/>
        </p:nvGrpSpPr>
        <p:grpSpPr>
          <a:xfrm>
            <a:off x="2956399" y="3642496"/>
            <a:ext cx="2694969" cy="2946691"/>
            <a:chOff x="2956399" y="3642496"/>
            <a:chExt cx="2694969" cy="2946691"/>
          </a:xfrm>
        </p:grpSpPr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5DE70095-A807-4BD4-ACA6-23A70B4F32A0}"/>
                </a:ext>
              </a:extLst>
            </p:cNvPr>
            <p:cNvSpPr txBox="1"/>
            <p:nvPr/>
          </p:nvSpPr>
          <p:spPr>
            <a:xfrm>
              <a:off x="2956399" y="5881301"/>
              <a:ext cx="2694969" cy="70788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 algn="just"/>
              <a:r>
                <a:rPr lang="es-419" sz="1000" b="1" dirty="0">
                  <a:latin typeface="Verdana" panose="020B0604030504040204" pitchFamily="34" charset="0"/>
                  <a:ea typeface="Verdana" panose="020B0604030504040204" pitchFamily="34" charset="0"/>
                </a:rPr>
                <a:t>Mapa</a:t>
              </a:r>
              <a:b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muestra la comparación entre distritos</a:t>
              </a:r>
              <a:b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por tipo de conocimiento y educación </a:t>
              </a:r>
              <a:b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de la madre</a:t>
              </a:r>
              <a:endParaRPr lang="es-AR" sz="10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3B129A33-C5E3-421F-A522-F94834D04DA9}"/>
                </a:ext>
              </a:extLst>
            </p:cNvPr>
            <p:cNvSpPr/>
            <p:nvPr/>
          </p:nvSpPr>
          <p:spPr>
            <a:xfrm>
              <a:off x="3941157" y="3642496"/>
              <a:ext cx="72000" cy="72000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>
              <a:solidFill>
                <a:srgbClr val="FF0000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59" name="Conector: angular 58">
              <a:extLst>
                <a:ext uri="{FF2B5EF4-FFF2-40B4-BE49-F238E27FC236}">
                  <a16:creationId xmlns:a16="http://schemas.microsoft.com/office/drawing/2014/main" id="{1457D2BF-D8ED-4C2A-B72B-CF30F287AA2D}"/>
                </a:ext>
              </a:extLst>
            </p:cNvPr>
            <p:cNvCxnSpPr>
              <a:stCxn id="42" idx="4"/>
              <a:endCxn id="25" idx="0"/>
            </p:cNvCxnSpPr>
            <p:nvPr/>
          </p:nvCxnSpPr>
          <p:spPr>
            <a:xfrm rot="16200000" flipH="1">
              <a:off x="3057118" y="4634534"/>
              <a:ext cx="2166805" cy="326727"/>
            </a:xfrm>
            <a:prstGeom prst="bentConnector3">
              <a:avLst>
                <a:gd name="adj1" fmla="val 26555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Conector: angular 61">
            <a:extLst>
              <a:ext uri="{FF2B5EF4-FFF2-40B4-BE49-F238E27FC236}">
                <a16:creationId xmlns:a16="http://schemas.microsoft.com/office/drawing/2014/main" id="{EE5E0E59-211B-4BDC-BACD-290A919C3F88}"/>
              </a:ext>
            </a:extLst>
          </p:cNvPr>
          <p:cNvCxnSpPr>
            <a:stCxn id="32" idx="5"/>
          </p:cNvCxnSpPr>
          <p:nvPr/>
        </p:nvCxnSpPr>
        <p:spPr>
          <a:xfrm rot="16200000" flipH="1">
            <a:off x="8458747" y="5220607"/>
            <a:ext cx="1660180" cy="338398"/>
          </a:xfrm>
          <a:prstGeom prst="bentConnector3">
            <a:avLst>
              <a:gd name="adj1" fmla="val 6168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uadroTexto 62">
            <a:extLst>
              <a:ext uri="{FF2B5EF4-FFF2-40B4-BE49-F238E27FC236}">
                <a16:creationId xmlns:a16="http://schemas.microsoft.com/office/drawing/2014/main" id="{8006621D-77BE-42DB-A0FF-E963E816AEDE}"/>
              </a:ext>
            </a:extLst>
          </p:cNvPr>
          <p:cNvSpPr txBox="1"/>
          <p:nvPr/>
        </p:nvSpPr>
        <p:spPr>
          <a:xfrm>
            <a:off x="10042279" y="2062548"/>
            <a:ext cx="2036696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419" sz="1000" b="1" dirty="0">
                <a:latin typeface="Verdana" panose="020B0604030504040204" pitchFamily="34" charset="0"/>
                <a:ea typeface="Verdana" panose="020B0604030504040204" pitchFamily="34" charset="0"/>
              </a:rPr>
              <a:t>KPI para matemáticas </a:t>
            </a:r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muestra el rendimiento en matemáticas del distrito y grupo de alumnos por</a:t>
            </a:r>
            <a:b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educación de la madre, contra el promedio general del mismo distrito</a:t>
            </a:r>
            <a:endParaRPr lang="es-AR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65" name="Conector: angular 64">
            <a:extLst>
              <a:ext uri="{FF2B5EF4-FFF2-40B4-BE49-F238E27FC236}">
                <a16:creationId xmlns:a16="http://schemas.microsoft.com/office/drawing/2014/main" id="{6016DA68-BB46-4F3E-B7C2-21E37D039FE7}"/>
              </a:ext>
            </a:extLst>
          </p:cNvPr>
          <p:cNvCxnSpPr>
            <a:stCxn id="31" idx="6"/>
            <a:endCxn id="63" idx="0"/>
          </p:cNvCxnSpPr>
          <p:nvPr/>
        </p:nvCxnSpPr>
        <p:spPr>
          <a:xfrm>
            <a:off x="9716415" y="1893099"/>
            <a:ext cx="1344212" cy="169449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: angular 66">
            <a:extLst>
              <a:ext uri="{FF2B5EF4-FFF2-40B4-BE49-F238E27FC236}">
                <a16:creationId xmlns:a16="http://schemas.microsoft.com/office/drawing/2014/main" id="{D5285B17-0859-45C8-8077-D5E86E4A460B}"/>
              </a:ext>
            </a:extLst>
          </p:cNvPr>
          <p:cNvCxnSpPr>
            <a:stCxn id="30" idx="0"/>
            <a:endCxn id="26" idx="0"/>
          </p:cNvCxnSpPr>
          <p:nvPr/>
        </p:nvCxnSpPr>
        <p:spPr>
          <a:xfrm rot="16200000" flipH="1">
            <a:off x="8735310" y="1659957"/>
            <a:ext cx="714664" cy="3411070"/>
          </a:xfrm>
          <a:prstGeom prst="bentConnector3">
            <a:avLst>
              <a:gd name="adj1" fmla="val 7399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CuadroTexto 81">
            <a:extLst>
              <a:ext uri="{FF2B5EF4-FFF2-40B4-BE49-F238E27FC236}">
                <a16:creationId xmlns:a16="http://schemas.microsoft.com/office/drawing/2014/main" id="{60A11627-0348-46D5-9867-1A17AF512CEA}"/>
              </a:ext>
            </a:extLst>
          </p:cNvPr>
          <p:cNvSpPr txBox="1"/>
          <p:nvPr/>
        </p:nvSpPr>
        <p:spPr>
          <a:xfrm>
            <a:off x="1801213" y="1578117"/>
            <a:ext cx="276038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9CB7B550-6BBD-47DD-B821-A8A2C74EC27C}"/>
              </a:ext>
            </a:extLst>
          </p:cNvPr>
          <p:cNvSpPr txBox="1"/>
          <p:nvPr/>
        </p:nvSpPr>
        <p:spPr>
          <a:xfrm>
            <a:off x="2659424" y="2236185"/>
            <a:ext cx="276038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D23277A9-E049-40E4-80E5-A6E9DB6AB990}"/>
              </a:ext>
            </a:extLst>
          </p:cNvPr>
          <p:cNvSpPr txBox="1"/>
          <p:nvPr/>
        </p:nvSpPr>
        <p:spPr>
          <a:xfrm>
            <a:off x="2559274" y="3796384"/>
            <a:ext cx="266420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F9160AA7-A986-453D-8D5D-8516B95AB586}"/>
              </a:ext>
            </a:extLst>
          </p:cNvPr>
          <p:cNvSpPr txBox="1"/>
          <p:nvPr/>
        </p:nvSpPr>
        <p:spPr>
          <a:xfrm>
            <a:off x="4362327" y="3901658"/>
            <a:ext cx="276038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DA3638C6-7272-4A14-9407-EACE93D6BF95}"/>
              </a:ext>
            </a:extLst>
          </p:cNvPr>
          <p:cNvSpPr txBox="1"/>
          <p:nvPr/>
        </p:nvSpPr>
        <p:spPr>
          <a:xfrm>
            <a:off x="7151878" y="1849909"/>
            <a:ext cx="266420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D7C4FDD3-3117-4E90-BC8E-536FDBF1CF30}"/>
              </a:ext>
            </a:extLst>
          </p:cNvPr>
          <p:cNvSpPr txBox="1"/>
          <p:nvPr/>
        </p:nvSpPr>
        <p:spPr>
          <a:xfrm>
            <a:off x="7925581" y="1844329"/>
            <a:ext cx="266420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FAC9E2F0-D9E0-48A8-A3E2-A04C36168500}"/>
              </a:ext>
            </a:extLst>
          </p:cNvPr>
          <p:cNvSpPr txBox="1"/>
          <p:nvPr/>
        </p:nvSpPr>
        <p:spPr>
          <a:xfrm>
            <a:off x="8621221" y="4753635"/>
            <a:ext cx="276038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7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719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96E59FE-4E4D-4905-BF26-D5C8B1B8A9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63" t="14737" r="16973" b="9942"/>
          <a:stretch/>
        </p:blipFill>
        <p:spPr>
          <a:xfrm>
            <a:off x="946484" y="1010652"/>
            <a:ext cx="9176084" cy="516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5048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ángulo 73">
            <a:extLst>
              <a:ext uri="{FF2B5EF4-FFF2-40B4-BE49-F238E27FC236}">
                <a16:creationId xmlns:a16="http://schemas.microsoft.com/office/drawing/2014/main" id="{E707A8C1-BCEA-4734-9B98-405B051C23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96E59FE-4E4D-4905-BF26-D5C8B1B8A9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63" t="14737" r="16973" b="9942"/>
          <a:stretch/>
        </p:blipFill>
        <p:spPr>
          <a:xfrm>
            <a:off x="1507958" y="846220"/>
            <a:ext cx="9176084" cy="5165559"/>
          </a:xfrm>
          <a:prstGeom prst="rect">
            <a:avLst/>
          </a:prstGeom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7A68E8FD-0AA7-413E-BB1A-C148126C0AD9}"/>
              </a:ext>
            </a:extLst>
          </p:cNvPr>
          <p:cNvGrpSpPr/>
          <p:nvPr/>
        </p:nvGrpSpPr>
        <p:grpSpPr>
          <a:xfrm>
            <a:off x="8404182" y="314938"/>
            <a:ext cx="1555234" cy="905163"/>
            <a:chOff x="8404182" y="314938"/>
            <a:chExt cx="1555234" cy="905163"/>
          </a:xfrm>
        </p:grpSpPr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7AED15F7-25AB-48EC-9B4F-7D141343CC02}"/>
                </a:ext>
              </a:extLst>
            </p:cNvPr>
            <p:cNvSpPr txBox="1"/>
            <p:nvPr/>
          </p:nvSpPr>
          <p:spPr>
            <a:xfrm>
              <a:off x="8404182" y="314938"/>
              <a:ext cx="1555234" cy="40011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 algn="just"/>
              <a:r>
                <a:rPr lang="en-US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Panel de </a:t>
              </a: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navegación </a:t>
              </a:r>
              <a:b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a otras páginas</a:t>
              </a:r>
              <a:endParaRPr lang="es-AR" sz="10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B35D6D9F-3C28-435F-BE45-BE2F8B23A350}"/>
                </a:ext>
              </a:extLst>
            </p:cNvPr>
            <p:cNvSpPr/>
            <p:nvPr/>
          </p:nvSpPr>
          <p:spPr>
            <a:xfrm>
              <a:off x="9292764" y="1148101"/>
              <a:ext cx="72000" cy="72000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>
              <a:solidFill>
                <a:srgbClr val="FF0000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20" name="Conector: angular 19">
              <a:extLst>
                <a:ext uri="{FF2B5EF4-FFF2-40B4-BE49-F238E27FC236}">
                  <a16:creationId xmlns:a16="http://schemas.microsoft.com/office/drawing/2014/main" id="{71562822-D56A-4164-A3BC-B1D622BAD184}"/>
                </a:ext>
              </a:extLst>
            </p:cNvPr>
            <p:cNvCxnSpPr>
              <a:stCxn id="19" idx="6"/>
              <a:endCxn id="18" idx="2"/>
            </p:cNvCxnSpPr>
            <p:nvPr/>
          </p:nvCxnSpPr>
          <p:spPr>
            <a:xfrm flipH="1" flipV="1">
              <a:off x="9181799" y="715048"/>
              <a:ext cx="182965" cy="469053"/>
            </a:xfrm>
            <a:prstGeom prst="bentConnector4">
              <a:avLst>
                <a:gd name="adj1" fmla="val -124942"/>
                <a:gd name="adj2" fmla="val 53837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FC08FA5B-43EA-4247-B817-A28548B08A73}"/>
              </a:ext>
            </a:extLst>
          </p:cNvPr>
          <p:cNvGrpSpPr/>
          <p:nvPr/>
        </p:nvGrpSpPr>
        <p:grpSpPr>
          <a:xfrm>
            <a:off x="80573" y="1474721"/>
            <a:ext cx="1509230" cy="738355"/>
            <a:chOff x="62101" y="1417254"/>
            <a:chExt cx="1509230" cy="738355"/>
          </a:xfrm>
        </p:grpSpPr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F88D2C39-FB5E-47B8-8EC3-FEC5B31F039A}"/>
                </a:ext>
              </a:extLst>
            </p:cNvPr>
            <p:cNvSpPr txBox="1"/>
            <p:nvPr/>
          </p:nvSpPr>
          <p:spPr>
            <a:xfrm>
              <a:off x="62101" y="1755499"/>
              <a:ext cx="1167307" cy="40011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 algn="just"/>
              <a:r>
                <a:rPr lang="es-419" sz="1000" b="1" dirty="0">
                  <a:latin typeface="Verdana" panose="020B0604030504040204" pitchFamily="34" charset="0"/>
                  <a:ea typeface="Verdana" panose="020B0604030504040204" pitchFamily="34" charset="0"/>
                </a:rPr>
                <a:t>Navegador </a:t>
              </a:r>
            </a:p>
            <a:p>
              <a:pPr algn="just"/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Página anterior</a:t>
              </a:r>
              <a:endParaRPr lang="es-AR" sz="10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cxnSp>
          <p:nvCxnSpPr>
            <p:cNvPr id="16" name="Conector: angular 15">
              <a:extLst>
                <a:ext uri="{FF2B5EF4-FFF2-40B4-BE49-F238E27FC236}">
                  <a16:creationId xmlns:a16="http://schemas.microsoft.com/office/drawing/2014/main" id="{511C3E01-8E28-4B27-BCD8-082C8ECE1747}"/>
                </a:ext>
              </a:extLst>
            </p:cNvPr>
            <p:cNvCxnSpPr>
              <a:cxnSpLocks/>
              <a:stCxn id="17" idx="2"/>
              <a:endCxn id="15" idx="3"/>
            </p:cNvCxnSpPr>
            <p:nvPr/>
          </p:nvCxnSpPr>
          <p:spPr>
            <a:xfrm rot="10800000" flipV="1">
              <a:off x="1229409" y="1453254"/>
              <a:ext cx="269923" cy="502300"/>
            </a:xfrm>
            <a:prstGeom prst="bentConnector3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9127789F-4826-4C0F-9774-E6BABB6D39FA}"/>
                </a:ext>
              </a:extLst>
            </p:cNvPr>
            <p:cNvSpPr/>
            <p:nvPr/>
          </p:nvSpPr>
          <p:spPr>
            <a:xfrm>
              <a:off x="1499331" y="1417254"/>
              <a:ext cx="72000" cy="72000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>
              <a:solidFill>
                <a:srgbClr val="FF0000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9" name="Elipse 8">
            <a:extLst>
              <a:ext uri="{FF2B5EF4-FFF2-40B4-BE49-F238E27FC236}">
                <a16:creationId xmlns:a16="http://schemas.microsoft.com/office/drawing/2014/main" id="{BD01A8D2-6CB1-487E-9B44-C00DFAE314F2}"/>
              </a:ext>
            </a:extLst>
          </p:cNvPr>
          <p:cNvSpPr/>
          <p:nvPr/>
        </p:nvSpPr>
        <p:spPr>
          <a:xfrm>
            <a:off x="6688109" y="1140711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0" name="Conector: angular 9">
            <a:extLst>
              <a:ext uri="{FF2B5EF4-FFF2-40B4-BE49-F238E27FC236}">
                <a16:creationId xmlns:a16="http://schemas.microsoft.com/office/drawing/2014/main" id="{C384D245-CF6D-4B17-AEBF-4EEE980B148D}"/>
              </a:ext>
            </a:extLst>
          </p:cNvPr>
          <p:cNvCxnSpPr>
            <a:cxnSpLocks/>
            <a:stCxn id="9" idx="2"/>
            <a:endCxn id="11" idx="2"/>
          </p:cNvCxnSpPr>
          <p:nvPr/>
        </p:nvCxnSpPr>
        <p:spPr>
          <a:xfrm rot="10800000" flipH="1">
            <a:off x="6688108" y="408893"/>
            <a:ext cx="1000125" cy="767819"/>
          </a:xfrm>
          <a:prstGeom prst="bentConnector4">
            <a:avLst>
              <a:gd name="adj1" fmla="val -22857"/>
              <a:gd name="adj2" fmla="val 5234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4715B36-9E20-49F2-AA4E-34DC64EC3DDE}"/>
              </a:ext>
            </a:extLst>
          </p:cNvPr>
          <p:cNvSpPr txBox="1"/>
          <p:nvPr/>
        </p:nvSpPr>
        <p:spPr>
          <a:xfrm>
            <a:off x="7397930" y="162671"/>
            <a:ext cx="580608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Filtros</a:t>
            </a:r>
            <a:endParaRPr lang="es-AR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9E4B6245-C434-4F58-BF88-45FF1CB87E05}"/>
              </a:ext>
            </a:extLst>
          </p:cNvPr>
          <p:cNvSpPr/>
          <p:nvPr/>
        </p:nvSpPr>
        <p:spPr>
          <a:xfrm>
            <a:off x="3784023" y="1076101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4EB7577C-0044-4FDF-80FC-44D4E18F0B8E}"/>
              </a:ext>
            </a:extLst>
          </p:cNvPr>
          <p:cNvCxnSpPr>
            <a:cxnSpLocks/>
            <a:stCxn id="22" idx="1"/>
            <a:endCxn id="24" idx="2"/>
          </p:cNvCxnSpPr>
          <p:nvPr/>
        </p:nvCxnSpPr>
        <p:spPr>
          <a:xfrm rot="5400000" flipH="1" flipV="1">
            <a:off x="4134908" y="201164"/>
            <a:ext cx="545140" cy="1225822"/>
          </a:xfrm>
          <a:prstGeom prst="bentConnector3">
            <a:avLst>
              <a:gd name="adj1" fmla="val 6397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469B5A8-AD06-4D3F-8508-ABB60C78BDD0}"/>
              </a:ext>
            </a:extLst>
          </p:cNvPr>
          <p:cNvSpPr txBox="1"/>
          <p:nvPr/>
        </p:nvSpPr>
        <p:spPr>
          <a:xfrm>
            <a:off x="3478904" y="141395"/>
            <a:ext cx="3082969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419" sz="1000" b="1" dirty="0">
                <a:latin typeface="Verdana" panose="020B0604030504040204" pitchFamily="34" charset="0"/>
                <a:ea typeface="Verdana" panose="020B0604030504040204" pitchFamily="34" charset="0"/>
              </a:rPr>
              <a:t>Bookmarks </a:t>
            </a:r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por tipo de conocimiento. </a:t>
            </a:r>
            <a:b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Modifica el mapa. Deja los filtros en “Todas”</a:t>
            </a:r>
            <a:endParaRPr lang="es-AR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80EBCAD4-3A76-43FB-8B95-F4E232D7155D}"/>
              </a:ext>
            </a:extLst>
          </p:cNvPr>
          <p:cNvGrpSpPr/>
          <p:nvPr/>
        </p:nvGrpSpPr>
        <p:grpSpPr>
          <a:xfrm>
            <a:off x="328335" y="39987"/>
            <a:ext cx="2541822" cy="1721884"/>
            <a:chOff x="328335" y="39987"/>
            <a:chExt cx="2541822" cy="1721884"/>
          </a:xfrm>
        </p:grpSpPr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2B56CA32-3BFA-4F33-A33F-0177E93B3560}"/>
                </a:ext>
              </a:extLst>
            </p:cNvPr>
            <p:cNvSpPr/>
            <p:nvPr/>
          </p:nvSpPr>
          <p:spPr>
            <a:xfrm>
              <a:off x="2798157" y="1689871"/>
              <a:ext cx="72000" cy="72000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>
              <a:solidFill>
                <a:srgbClr val="FF0000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CAD92410-A53C-4260-A320-58C277E202A2}"/>
                </a:ext>
              </a:extLst>
            </p:cNvPr>
            <p:cNvSpPr txBox="1"/>
            <p:nvPr/>
          </p:nvSpPr>
          <p:spPr>
            <a:xfrm>
              <a:off x="328335" y="39987"/>
              <a:ext cx="2332690" cy="70788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 algn="just"/>
              <a:r>
                <a:rPr lang="es-419" sz="1000" b="1" dirty="0">
                  <a:latin typeface="Verdana" panose="020B0604030504040204" pitchFamily="34" charset="0"/>
                  <a:ea typeface="Verdana" panose="020B0604030504040204" pitchFamily="34" charset="0"/>
                </a:rPr>
                <a:t>Tarjeta dinámica</a:t>
              </a:r>
              <a:b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muestra el distrito seleccionado, </a:t>
              </a:r>
              <a:b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cuando la selección es “Todas”,</a:t>
              </a:r>
              <a:b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muestra “Argentina”</a:t>
              </a:r>
              <a:endParaRPr lang="es-AR" sz="10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cxnSp>
          <p:nvCxnSpPr>
            <p:cNvPr id="29" name="Conector: angular 28">
              <a:extLst>
                <a:ext uri="{FF2B5EF4-FFF2-40B4-BE49-F238E27FC236}">
                  <a16:creationId xmlns:a16="http://schemas.microsoft.com/office/drawing/2014/main" id="{A5A635D3-1D66-440F-A69C-C1882C40279E}"/>
                </a:ext>
              </a:extLst>
            </p:cNvPr>
            <p:cNvCxnSpPr>
              <a:stCxn id="27" idx="6"/>
              <a:endCxn id="28" idx="3"/>
            </p:cNvCxnSpPr>
            <p:nvPr/>
          </p:nvCxnSpPr>
          <p:spPr>
            <a:xfrm flipH="1" flipV="1">
              <a:off x="2661025" y="393930"/>
              <a:ext cx="209132" cy="1331941"/>
            </a:xfrm>
            <a:prstGeom prst="bentConnector3">
              <a:avLst>
                <a:gd name="adj1" fmla="val -109309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DFB68527-0A99-4B5D-9DCA-378ACE7132D5}"/>
              </a:ext>
            </a:extLst>
          </p:cNvPr>
          <p:cNvGrpSpPr/>
          <p:nvPr/>
        </p:nvGrpSpPr>
        <p:grpSpPr>
          <a:xfrm>
            <a:off x="150121" y="2936160"/>
            <a:ext cx="1910411" cy="983335"/>
            <a:chOff x="150121" y="2936160"/>
            <a:chExt cx="1910411" cy="983335"/>
          </a:xfrm>
        </p:grpSpPr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30138A29-43E3-42C7-9996-D43F2D95CA0F}"/>
                </a:ext>
              </a:extLst>
            </p:cNvPr>
            <p:cNvSpPr/>
            <p:nvPr/>
          </p:nvSpPr>
          <p:spPr>
            <a:xfrm>
              <a:off x="1988532" y="2936160"/>
              <a:ext cx="72000" cy="72000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>
              <a:solidFill>
                <a:srgbClr val="FF0000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B9DDB317-A1E2-40F6-B01D-7973FF1BDED0}"/>
                </a:ext>
              </a:extLst>
            </p:cNvPr>
            <p:cNvSpPr txBox="1"/>
            <p:nvPr/>
          </p:nvSpPr>
          <p:spPr>
            <a:xfrm>
              <a:off x="150121" y="3365497"/>
              <a:ext cx="1367682" cy="55399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just"/>
              <a:r>
                <a:rPr lang="es-419" sz="1000" b="1" dirty="0">
                  <a:latin typeface="Verdana" panose="020B0604030504040204" pitchFamily="34" charset="0"/>
                  <a:ea typeface="Verdana" panose="020B0604030504040204" pitchFamily="34" charset="0"/>
                </a:rPr>
                <a:t>Mapa</a:t>
              </a:r>
              <a:b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focaliza el distrito </a:t>
              </a:r>
              <a:b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seleccionado</a:t>
              </a:r>
              <a:endParaRPr lang="es-AR" sz="10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cxnSp>
          <p:nvCxnSpPr>
            <p:cNvPr id="39" name="Conector: angular 38">
              <a:extLst>
                <a:ext uri="{FF2B5EF4-FFF2-40B4-BE49-F238E27FC236}">
                  <a16:creationId xmlns:a16="http://schemas.microsoft.com/office/drawing/2014/main" id="{B1736E57-9A74-40C7-A353-D5ED723C5E96}"/>
                </a:ext>
              </a:extLst>
            </p:cNvPr>
            <p:cNvCxnSpPr>
              <a:cxnSpLocks/>
              <a:stCxn id="37" idx="2"/>
              <a:endCxn id="38" idx="0"/>
            </p:cNvCxnSpPr>
            <p:nvPr/>
          </p:nvCxnSpPr>
          <p:spPr>
            <a:xfrm rot="10800000" flipV="1">
              <a:off x="833962" y="2972159"/>
              <a:ext cx="1154570" cy="393337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7D248D33-AF62-47A9-ACA7-0573444FE670}"/>
              </a:ext>
            </a:extLst>
          </p:cNvPr>
          <p:cNvGrpSpPr/>
          <p:nvPr/>
        </p:nvGrpSpPr>
        <p:grpSpPr>
          <a:xfrm>
            <a:off x="77234" y="4241085"/>
            <a:ext cx="2135698" cy="2209602"/>
            <a:chOff x="77234" y="4241085"/>
            <a:chExt cx="2135698" cy="2209602"/>
          </a:xfrm>
        </p:grpSpPr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9EF533C3-C85A-4F3E-BD63-0A4A69A570AD}"/>
                </a:ext>
              </a:extLst>
            </p:cNvPr>
            <p:cNvSpPr txBox="1"/>
            <p:nvPr/>
          </p:nvSpPr>
          <p:spPr>
            <a:xfrm>
              <a:off x="77234" y="5588913"/>
              <a:ext cx="1983298" cy="86177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s-419" sz="1000" b="1" dirty="0">
                  <a:latin typeface="Verdana" panose="020B0604030504040204" pitchFamily="34" charset="0"/>
                  <a:ea typeface="Verdana" panose="020B0604030504040204" pitchFamily="34" charset="0"/>
                </a:rPr>
                <a:t>Treemap</a:t>
              </a:r>
              <a:b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muestra la composición</a:t>
              </a:r>
              <a:b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de la población de alumnos</a:t>
              </a:r>
              <a:b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seleccionada en los filtros,</a:t>
              </a:r>
              <a:b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por sexo</a:t>
              </a:r>
              <a:endParaRPr lang="es-AR" sz="10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7F83D067-5E5C-445F-BA41-BB55E1026A31}"/>
                </a:ext>
              </a:extLst>
            </p:cNvPr>
            <p:cNvSpPr/>
            <p:nvPr/>
          </p:nvSpPr>
          <p:spPr>
            <a:xfrm>
              <a:off x="2140932" y="4241085"/>
              <a:ext cx="72000" cy="72000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>
              <a:solidFill>
                <a:srgbClr val="FF0000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43" name="Conector: angular 42">
              <a:extLst>
                <a:ext uri="{FF2B5EF4-FFF2-40B4-BE49-F238E27FC236}">
                  <a16:creationId xmlns:a16="http://schemas.microsoft.com/office/drawing/2014/main" id="{E40BF804-61F5-4823-9A72-860E0FA37B64}"/>
                </a:ext>
              </a:extLst>
            </p:cNvPr>
            <p:cNvCxnSpPr>
              <a:cxnSpLocks/>
              <a:stCxn id="42" idx="4"/>
              <a:endCxn id="41" idx="0"/>
            </p:cNvCxnSpPr>
            <p:nvPr/>
          </p:nvCxnSpPr>
          <p:spPr>
            <a:xfrm rot="5400000">
              <a:off x="984994" y="4396975"/>
              <a:ext cx="1275828" cy="1108049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9CEB6322-1A49-444C-B415-E36319CA4E54}"/>
              </a:ext>
            </a:extLst>
          </p:cNvPr>
          <p:cNvGrpSpPr/>
          <p:nvPr/>
        </p:nvGrpSpPr>
        <p:grpSpPr>
          <a:xfrm>
            <a:off x="2956399" y="3642496"/>
            <a:ext cx="2694969" cy="2946691"/>
            <a:chOff x="2956399" y="3642496"/>
            <a:chExt cx="2694969" cy="2946691"/>
          </a:xfrm>
        </p:grpSpPr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F3E8649A-698B-4E40-A5C3-6C23BF2D7972}"/>
                </a:ext>
              </a:extLst>
            </p:cNvPr>
            <p:cNvSpPr txBox="1"/>
            <p:nvPr/>
          </p:nvSpPr>
          <p:spPr>
            <a:xfrm>
              <a:off x="2956399" y="5881301"/>
              <a:ext cx="2694969" cy="70788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 algn="just"/>
              <a:r>
                <a:rPr lang="es-419" sz="1000" b="1" dirty="0">
                  <a:latin typeface="Verdana" panose="020B0604030504040204" pitchFamily="34" charset="0"/>
                  <a:ea typeface="Verdana" panose="020B0604030504040204" pitchFamily="34" charset="0"/>
                </a:rPr>
                <a:t>Mapa</a:t>
              </a:r>
              <a:b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muestra la comparación entre distritos</a:t>
              </a:r>
              <a:b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por tipo de conocimiento, educación </a:t>
              </a:r>
              <a:b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</a:br>
              <a:r>
                <a:rPr lang="es-419" sz="1000" dirty="0">
                  <a:latin typeface="Verdana" panose="020B0604030504040204" pitchFamily="34" charset="0"/>
                  <a:ea typeface="Verdana" panose="020B0604030504040204" pitchFamily="34" charset="0"/>
                </a:rPr>
                <a:t>de la madre y tipo de escuela</a:t>
              </a:r>
              <a:endParaRPr lang="es-AR" sz="10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09A414D3-A40F-440F-B1AC-A49CB5804335}"/>
                </a:ext>
              </a:extLst>
            </p:cNvPr>
            <p:cNvSpPr/>
            <p:nvPr/>
          </p:nvSpPr>
          <p:spPr>
            <a:xfrm>
              <a:off x="3941157" y="3642496"/>
              <a:ext cx="72000" cy="72000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>
              <a:solidFill>
                <a:srgbClr val="FF0000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48" name="Conector: angular 47">
              <a:extLst>
                <a:ext uri="{FF2B5EF4-FFF2-40B4-BE49-F238E27FC236}">
                  <a16:creationId xmlns:a16="http://schemas.microsoft.com/office/drawing/2014/main" id="{F438A94D-71B7-4F07-B1D5-DCC07402063F}"/>
                </a:ext>
              </a:extLst>
            </p:cNvPr>
            <p:cNvCxnSpPr>
              <a:stCxn id="47" idx="4"/>
              <a:endCxn id="46" idx="0"/>
            </p:cNvCxnSpPr>
            <p:nvPr/>
          </p:nvCxnSpPr>
          <p:spPr>
            <a:xfrm rot="16200000" flipH="1">
              <a:off x="3057118" y="4634534"/>
              <a:ext cx="2166805" cy="326727"/>
            </a:xfrm>
            <a:prstGeom prst="bentConnector3">
              <a:avLst>
                <a:gd name="adj1" fmla="val 26555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Elipse 48">
            <a:extLst>
              <a:ext uri="{FF2B5EF4-FFF2-40B4-BE49-F238E27FC236}">
                <a16:creationId xmlns:a16="http://schemas.microsoft.com/office/drawing/2014/main" id="{CF256455-40B6-4385-ABEE-47DF7215F722}"/>
              </a:ext>
            </a:extLst>
          </p:cNvPr>
          <p:cNvSpPr/>
          <p:nvPr/>
        </p:nvSpPr>
        <p:spPr>
          <a:xfrm>
            <a:off x="9583770" y="1740966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5B3665D9-6FB2-45FA-8EF7-6565467731AD}"/>
              </a:ext>
            </a:extLst>
          </p:cNvPr>
          <p:cNvSpPr/>
          <p:nvPr/>
        </p:nvSpPr>
        <p:spPr>
          <a:xfrm>
            <a:off x="7787040" y="2104716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E0A64AEC-68A7-46D8-BEF6-ACC857955BE0}"/>
              </a:ext>
            </a:extLst>
          </p:cNvPr>
          <p:cNvSpPr/>
          <p:nvPr/>
        </p:nvSpPr>
        <p:spPr>
          <a:xfrm>
            <a:off x="7787040" y="2579624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4D65F552-4944-4453-BD1F-1544D1F7B805}"/>
              </a:ext>
            </a:extLst>
          </p:cNvPr>
          <p:cNvSpPr/>
          <p:nvPr/>
        </p:nvSpPr>
        <p:spPr>
          <a:xfrm>
            <a:off x="9607230" y="2972159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7F303315-506E-4E04-AF3D-A722A7695A05}"/>
              </a:ext>
            </a:extLst>
          </p:cNvPr>
          <p:cNvSpPr/>
          <p:nvPr/>
        </p:nvSpPr>
        <p:spPr>
          <a:xfrm>
            <a:off x="9273281" y="4076424"/>
            <a:ext cx="72000" cy="7200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B55992C6-8228-4CB4-9E25-E2ADFCC19D38}"/>
              </a:ext>
            </a:extLst>
          </p:cNvPr>
          <p:cNvSpPr txBox="1"/>
          <p:nvPr/>
        </p:nvSpPr>
        <p:spPr>
          <a:xfrm>
            <a:off x="10043873" y="2095353"/>
            <a:ext cx="1800493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b="1" dirty="0">
                <a:latin typeface="Verdana" panose="020B0604030504040204" pitchFamily="34" charset="0"/>
                <a:ea typeface="Verdana" panose="020B0604030504040204" pitchFamily="34" charset="0"/>
              </a:rPr>
              <a:t>Tarjetas dinámicas</a:t>
            </a:r>
            <a:b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para distintos tipos de </a:t>
            </a:r>
            <a:b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rendimientos bajo algún </a:t>
            </a:r>
            <a:b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tipo de control </a:t>
            </a:r>
            <a:endParaRPr lang="es-AR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56" name="Conector: angular 55">
            <a:extLst>
              <a:ext uri="{FF2B5EF4-FFF2-40B4-BE49-F238E27FC236}">
                <a16:creationId xmlns:a16="http://schemas.microsoft.com/office/drawing/2014/main" id="{9654831B-E4E5-4AD9-8D93-F04B3A26FF78}"/>
              </a:ext>
            </a:extLst>
          </p:cNvPr>
          <p:cNvCxnSpPr>
            <a:stCxn id="50" idx="0"/>
            <a:endCxn id="54" idx="1"/>
          </p:cNvCxnSpPr>
          <p:nvPr/>
        </p:nvCxnSpPr>
        <p:spPr>
          <a:xfrm rot="16200000" flipH="1">
            <a:off x="8761166" y="1166590"/>
            <a:ext cx="344580" cy="2220833"/>
          </a:xfrm>
          <a:prstGeom prst="bentConnector4">
            <a:avLst>
              <a:gd name="adj1" fmla="val 52520"/>
              <a:gd name="adj2" fmla="val 5081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: angular 58">
            <a:extLst>
              <a:ext uri="{FF2B5EF4-FFF2-40B4-BE49-F238E27FC236}">
                <a16:creationId xmlns:a16="http://schemas.microsoft.com/office/drawing/2014/main" id="{999632B7-E4CC-4DC2-A932-8E82250AA62D}"/>
              </a:ext>
            </a:extLst>
          </p:cNvPr>
          <p:cNvCxnSpPr>
            <a:stCxn id="51" idx="6"/>
            <a:endCxn id="54" idx="1"/>
          </p:cNvCxnSpPr>
          <p:nvPr/>
        </p:nvCxnSpPr>
        <p:spPr>
          <a:xfrm flipV="1">
            <a:off x="7859040" y="2449296"/>
            <a:ext cx="2184833" cy="166328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: angular 60">
            <a:extLst>
              <a:ext uri="{FF2B5EF4-FFF2-40B4-BE49-F238E27FC236}">
                <a16:creationId xmlns:a16="http://schemas.microsoft.com/office/drawing/2014/main" id="{0807EC5A-2F93-46D5-A353-F0DACBB0BDCA}"/>
              </a:ext>
            </a:extLst>
          </p:cNvPr>
          <p:cNvCxnSpPr>
            <a:stCxn id="49" idx="4"/>
            <a:endCxn id="54" idx="1"/>
          </p:cNvCxnSpPr>
          <p:nvPr/>
        </p:nvCxnSpPr>
        <p:spPr>
          <a:xfrm rot="16200000" flipH="1">
            <a:off x="9513656" y="1919079"/>
            <a:ext cx="636330" cy="424103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: angular 62">
            <a:extLst>
              <a:ext uri="{FF2B5EF4-FFF2-40B4-BE49-F238E27FC236}">
                <a16:creationId xmlns:a16="http://schemas.microsoft.com/office/drawing/2014/main" id="{47AFAF29-A58C-470C-8250-3FC332C4830A}"/>
              </a:ext>
            </a:extLst>
          </p:cNvPr>
          <p:cNvCxnSpPr>
            <a:stCxn id="52" idx="0"/>
            <a:endCxn id="54" idx="1"/>
          </p:cNvCxnSpPr>
          <p:nvPr/>
        </p:nvCxnSpPr>
        <p:spPr>
          <a:xfrm rot="5400000" flipH="1" flipV="1">
            <a:off x="9582120" y="2510407"/>
            <a:ext cx="522863" cy="400643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AE206B6F-4E39-495B-A6C6-5CC0912B9AF1}"/>
              </a:ext>
            </a:extLst>
          </p:cNvPr>
          <p:cNvSpPr txBox="1"/>
          <p:nvPr/>
        </p:nvSpPr>
        <p:spPr>
          <a:xfrm>
            <a:off x="7397930" y="6091315"/>
            <a:ext cx="3541354" cy="55399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b="1" dirty="0">
                <a:latin typeface="Verdana" panose="020B0604030504040204" pitchFamily="34" charset="0"/>
                <a:ea typeface="Verdana" panose="020B0604030504040204" pitchFamily="34" charset="0"/>
              </a:rPr>
              <a:t>Gráfico de columnas agrupadas</a:t>
            </a:r>
            <a:b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muestra la cantidad de alumnos por tipo de escuela</a:t>
            </a:r>
          </a:p>
          <a:p>
            <a:pPr algn="just"/>
            <a:r>
              <a:rPr lang="es-419" sz="1000" dirty="0">
                <a:latin typeface="Verdana" panose="020B0604030504040204" pitchFamily="34" charset="0"/>
                <a:ea typeface="Verdana" panose="020B0604030504040204" pitchFamily="34" charset="0"/>
              </a:rPr>
              <a:t>y educación de la madre</a:t>
            </a:r>
            <a:endParaRPr lang="es-AR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66" name="Conector: angular 65">
            <a:extLst>
              <a:ext uri="{FF2B5EF4-FFF2-40B4-BE49-F238E27FC236}">
                <a16:creationId xmlns:a16="http://schemas.microsoft.com/office/drawing/2014/main" id="{EB41AF14-711E-4BEE-8ED7-05828CD6BE70}"/>
              </a:ext>
            </a:extLst>
          </p:cNvPr>
          <p:cNvCxnSpPr>
            <a:cxnSpLocks/>
            <a:stCxn id="53" idx="6"/>
            <a:endCxn id="64" idx="0"/>
          </p:cNvCxnSpPr>
          <p:nvPr/>
        </p:nvCxnSpPr>
        <p:spPr>
          <a:xfrm flipH="1">
            <a:off x="9168607" y="4112424"/>
            <a:ext cx="176674" cy="1978891"/>
          </a:xfrm>
          <a:prstGeom prst="bentConnector4">
            <a:avLst>
              <a:gd name="adj1" fmla="val -1078257"/>
              <a:gd name="adj2" fmla="val 7112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uadroTexto 75">
            <a:extLst>
              <a:ext uri="{FF2B5EF4-FFF2-40B4-BE49-F238E27FC236}">
                <a16:creationId xmlns:a16="http://schemas.microsoft.com/office/drawing/2014/main" id="{45654FAE-7762-4B48-8164-CF442B44F723}"/>
              </a:ext>
            </a:extLst>
          </p:cNvPr>
          <p:cNvSpPr txBox="1"/>
          <p:nvPr/>
        </p:nvSpPr>
        <p:spPr>
          <a:xfrm>
            <a:off x="1801213" y="1578117"/>
            <a:ext cx="276038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2CC33779-9936-423D-89B8-6A01DCF48A43}"/>
              </a:ext>
            </a:extLst>
          </p:cNvPr>
          <p:cNvSpPr txBox="1"/>
          <p:nvPr/>
        </p:nvSpPr>
        <p:spPr>
          <a:xfrm>
            <a:off x="2659424" y="2236185"/>
            <a:ext cx="276038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8C79282D-2276-4CAD-844E-5E463F1ACD4C}"/>
              </a:ext>
            </a:extLst>
          </p:cNvPr>
          <p:cNvSpPr txBox="1"/>
          <p:nvPr/>
        </p:nvSpPr>
        <p:spPr>
          <a:xfrm>
            <a:off x="2559274" y="3796384"/>
            <a:ext cx="266420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1CFEF898-D94B-435B-9A3E-F908AE1E12EA}"/>
              </a:ext>
            </a:extLst>
          </p:cNvPr>
          <p:cNvSpPr txBox="1"/>
          <p:nvPr/>
        </p:nvSpPr>
        <p:spPr>
          <a:xfrm>
            <a:off x="4362327" y="3901658"/>
            <a:ext cx="276038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E2FC36B1-9F73-4272-8187-E0747E7453A5}"/>
              </a:ext>
            </a:extLst>
          </p:cNvPr>
          <p:cNvSpPr txBox="1"/>
          <p:nvPr/>
        </p:nvSpPr>
        <p:spPr>
          <a:xfrm>
            <a:off x="6285835" y="1689854"/>
            <a:ext cx="276038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48A89B4C-0D30-4B59-A195-B939A77B9D1B}"/>
              </a:ext>
            </a:extLst>
          </p:cNvPr>
          <p:cNvSpPr txBox="1"/>
          <p:nvPr/>
        </p:nvSpPr>
        <p:spPr>
          <a:xfrm>
            <a:off x="8128144" y="1682473"/>
            <a:ext cx="276038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0D4FD5A3-1347-481F-A3CC-4E6A792E1149}"/>
              </a:ext>
            </a:extLst>
          </p:cNvPr>
          <p:cNvSpPr txBox="1"/>
          <p:nvPr/>
        </p:nvSpPr>
        <p:spPr>
          <a:xfrm>
            <a:off x="6277498" y="2587617"/>
            <a:ext cx="266420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7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01918C03-8E92-47A1-B477-FE02D0434BFA}"/>
              </a:ext>
            </a:extLst>
          </p:cNvPr>
          <p:cNvSpPr txBox="1"/>
          <p:nvPr/>
        </p:nvSpPr>
        <p:spPr>
          <a:xfrm>
            <a:off x="8110624" y="2662466"/>
            <a:ext cx="276038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8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A80B6383-F987-4353-A92E-C0D0781B4530}"/>
              </a:ext>
            </a:extLst>
          </p:cNvPr>
          <p:cNvSpPr txBox="1"/>
          <p:nvPr/>
        </p:nvSpPr>
        <p:spPr>
          <a:xfrm>
            <a:off x="7415618" y="4024768"/>
            <a:ext cx="276038" cy="246221"/>
          </a:xfrm>
          <a:prstGeom prst="rect">
            <a:avLst/>
          </a:prstGeom>
          <a:solidFill>
            <a:srgbClr val="FF0000">
              <a:alpha val="70000"/>
            </a:srgb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419" sz="1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9</a:t>
            </a:r>
            <a:endParaRPr lang="es-AR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784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3A0A295-CE3F-46A1-AC22-EFDAA5398A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63" t="18548" r="14044" b="10995"/>
          <a:stretch/>
        </p:blipFill>
        <p:spPr bwMode="auto">
          <a:xfrm>
            <a:off x="3138170" y="2025015"/>
            <a:ext cx="5915660" cy="28079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247332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1255</TotalTime>
  <Words>555</Words>
  <Application>Microsoft Office PowerPoint</Application>
  <PresentationFormat>Panorámica</PresentationFormat>
  <Paragraphs>105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Verdana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German Tessmer</dc:creator>
  <cp:lastModifiedBy>German Tessmer</cp:lastModifiedBy>
  <cp:revision>30</cp:revision>
  <dcterms:created xsi:type="dcterms:W3CDTF">2022-04-21T17:36:01Z</dcterms:created>
  <dcterms:modified xsi:type="dcterms:W3CDTF">2022-04-27T20:22:29Z</dcterms:modified>
</cp:coreProperties>
</file>