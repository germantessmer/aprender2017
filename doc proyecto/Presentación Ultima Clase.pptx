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8" r:id="rId3"/>
    <p:sldId id="259" r:id="rId4"/>
    <p:sldId id="256" r:id="rId5"/>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C832"/>
    <a:srgbClr val="979D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0" autoAdjust="0"/>
    <p:restoredTop sz="94660"/>
  </p:normalViewPr>
  <p:slideViewPr>
    <p:cSldViewPr snapToGrid="0">
      <p:cViewPr varScale="1">
        <p:scale>
          <a:sx n="114" d="100"/>
          <a:sy n="114" d="100"/>
        </p:scale>
        <p:origin x="46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39636F-4B57-4BD0-B9D0-760F7148BAC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660A07DA-76A0-4F9D-BFD4-4D12E5294D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C797D6E1-917A-4E88-B574-D66FCA6950B7}"/>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5" name="Marcador de pie de página 4">
            <a:extLst>
              <a:ext uri="{FF2B5EF4-FFF2-40B4-BE49-F238E27FC236}">
                <a16:creationId xmlns:a16="http://schemas.microsoft.com/office/drawing/2014/main" id="{C9B85541-88E4-4E36-AD2A-860D62657C3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14B5A4E3-3310-422A-A7F7-B70DB1323D1B}"/>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2766546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615B7D-B8F1-4C68-BDEB-1484D110F90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D2EB185B-C497-4608-AF16-2CD05E22305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0FA8C90B-CB42-4ECF-BD92-63F48FC59C2C}"/>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5" name="Marcador de pie de página 4">
            <a:extLst>
              <a:ext uri="{FF2B5EF4-FFF2-40B4-BE49-F238E27FC236}">
                <a16:creationId xmlns:a16="http://schemas.microsoft.com/office/drawing/2014/main" id="{53D7534D-4665-4E6C-8042-9DAA6F520A75}"/>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04BFB0E-2657-443D-9191-008D6F91649B}"/>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174351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533D68-3C26-4841-9C14-48415F4635B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7E28EADE-87C1-421C-B30A-2BD8B08CDD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81A2E58-3E0D-4775-80C1-A9C452A5F683}"/>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5" name="Marcador de pie de página 4">
            <a:extLst>
              <a:ext uri="{FF2B5EF4-FFF2-40B4-BE49-F238E27FC236}">
                <a16:creationId xmlns:a16="http://schemas.microsoft.com/office/drawing/2014/main" id="{EFE01CF1-F924-4D1D-B7CA-39D7F28C41BB}"/>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67113912-E2C7-4E36-8E8E-44F079BC1D37}"/>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955559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6FD84F-B26F-4585-B743-BC8D4F6074F9}"/>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6F801D80-85C3-4F79-800F-ED1D30E94A5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0E9F4554-C8F9-4F88-9954-764C7DC7D73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3D2ECD29-B6F3-4720-A082-FCBBA9C9AB00}"/>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6" name="Marcador de pie de página 5">
            <a:extLst>
              <a:ext uri="{FF2B5EF4-FFF2-40B4-BE49-F238E27FC236}">
                <a16:creationId xmlns:a16="http://schemas.microsoft.com/office/drawing/2014/main" id="{774AA4C5-E9F0-4C2C-91F8-5AB8799930B0}"/>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F9483001-CB6E-45EE-904C-CFF0BDD89499}"/>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93533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7A550A-8FE9-4407-BBDD-2C4D77B7444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22EA3260-4AA5-4FB4-AD9B-0B7FFBD691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9E55ABB-CF92-46C6-BDCA-26841A9A147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46B134AD-4674-454B-8CA3-2B510D7437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6ACCFAF-CE67-460E-A6BF-7E2BF3C1B6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81D5FCCA-F6BD-4CAB-B90A-5CEE67F325BD}"/>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8" name="Marcador de pie de página 7">
            <a:extLst>
              <a:ext uri="{FF2B5EF4-FFF2-40B4-BE49-F238E27FC236}">
                <a16:creationId xmlns:a16="http://schemas.microsoft.com/office/drawing/2014/main" id="{FE8B469A-46B5-480A-985D-56A2537D2FA4}"/>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4D24644E-C8EC-4476-823F-2400BB4CBE5B}"/>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3243326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F29365-A4F2-4024-AAC9-13FF4BB5A60E}"/>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9775F2ED-F848-4F72-B143-DF8574D9EF46}"/>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4" name="Marcador de pie de página 3">
            <a:extLst>
              <a:ext uri="{FF2B5EF4-FFF2-40B4-BE49-F238E27FC236}">
                <a16:creationId xmlns:a16="http://schemas.microsoft.com/office/drawing/2014/main" id="{BC19F08E-B533-406D-ACE4-95718F9087E9}"/>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C22E3A21-2ADC-4F4A-A5DD-93F68B7314FF}"/>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1021020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1068CDF-277B-4848-B66F-DE8F4D50BE94}"/>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3" name="Marcador de pie de página 2">
            <a:extLst>
              <a:ext uri="{FF2B5EF4-FFF2-40B4-BE49-F238E27FC236}">
                <a16:creationId xmlns:a16="http://schemas.microsoft.com/office/drawing/2014/main" id="{56217F55-6E96-425E-942B-53F0293C9A33}"/>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240408D6-1DE4-4326-9AD6-FF5FC73CFDFD}"/>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4229584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170141-D78A-40EC-87C5-1E1863C645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154486E6-E0EE-4FB0-B4A8-41366091C6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B6A3273A-9B4E-422A-B86E-46F31FA6CD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A691FC-782F-4529-B5FC-E0334C453F81}"/>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6" name="Marcador de pie de página 5">
            <a:extLst>
              <a:ext uri="{FF2B5EF4-FFF2-40B4-BE49-F238E27FC236}">
                <a16:creationId xmlns:a16="http://schemas.microsoft.com/office/drawing/2014/main" id="{F5156481-B274-437B-90C5-F822011D57F1}"/>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88962F95-E8A3-44A5-9F45-E2E144EB9671}"/>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1764166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55A56C-5871-4469-A528-C1A7365F26D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4292E99D-42A2-4092-9429-B2DBCF4769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96C3731C-0A70-4961-A300-D90929FB17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B39E984-59F6-4D25-BD91-8588CDFF0EBD}"/>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6" name="Marcador de pie de página 5">
            <a:extLst>
              <a:ext uri="{FF2B5EF4-FFF2-40B4-BE49-F238E27FC236}">
                <a16:creationId xmlns:a16="http://schemas.microsoft.com/office/drawing/2014/main" id="{8D0CC6D2-7C48-4306-A3D9-3FC83AEBE1D0}"/>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EC0C463D-EEBB-4C8E-AD85-3AF60B6B9CDF}"/>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208706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88891F-3C56-4C2A-AE18-DEE5613AAAD1}"/>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5DA31FA4-6FB9-4A58-B5D4-79D37AA4884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A542208F-F055-47CB-90DC-80FD64F1F65C}"/>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5" name="Marcador de pie de página 4">
            <a:extLst>
              <a:ext uri="{FF2B5EF4-FFF2-40B4-BE49-F238E27FC236}">
                <a16:creationId xmlns:a16="http://schemas.microsoft.com/office/drawing/2014/main" id="{18B4DCD0-C326-43B7-BB62-81D5E3A8404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6F7E5C6B-B437-43DB-B4FE-D471977A7667}"/>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1566938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BB53CF5-9926-4D7E-8638-9908D44C48C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E97E964D-FC39-464D-B0AD-2AB5161C40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EA3BE7CD-AF22-4E51-9A4F-1CFE31CD0C78}"/>
              </a:ext>
            </a:extLst>
          </p:cNvPr>
          <p:cNvSpPr>
            <a:spLocks noGrp="1"/>
          </p:cNvSpPr>
          <p:nvPr>
            <p:ph type="dt" sz="half" idx="10"/>
          </p:nvPr>
        </p:nvSpPr>
        <p:spPr/>
        <p:txBody>
          <a:bodyPr/>
          <a:lstStyle/>
          <a:p>
            <a:fld id="{38E3E64D-1C60-46C0-9CC3-7E11A0ACFD1F}" type="datetimeFigureOut">
              <a:rPr lang="es-AR" smtClean="0"/>
              <a:t>14/4/2022</a:t>
            </a:fld>
            <a:endParaRPr lang="es-AR"/>
          </a:p>
        </p:txBody>
      </p:sp>
      <p:sp>
        <p:nvSpPr>
          <p:cNvPr id="5" name="Marcador de pie de página 4">
            <a:extLst>
              <a:ext uri="{FF2B5EF4-FFF2-40B4-BE49-F238E27FC236}">
                <a16:creationId xmlns:a16="http://schemas.microsoft.com/office/drawing/2014/main" id="{F36DA26F-44EB-4546-99E7-955E8EBBE65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7981EA95-D848-44B1-93C2-4EA979A2F80F}"/>
              </a:ext>
            </a:extLst>
          </p:cNvPr>
          <p:cNvSpPr>
            <a:spLocks noGrp="1"/>
          </p:cNvSpPr>
          <p:nvPr>
            <p:ph type="sldNum" sz="quarter" idx="12"/>
          </p:nvPr>
        </p:nvSpPr>
        <p:spPr/>
        <p:txBody>
          <a:bodyPr/>
          <a:lstStyle/>
          <a:p>
            <a:fld id="{49473138-9DD4-4B6D-A71B-CC179F574CF5}" type="slidenum">
              <a:rPr lang="es-AR" smtClean="0"/>
              <a:t>‹Nº›</a:t>
            </a:fld>
            <a:endParaRPr lang="es-AR"/>
          </a:p>
        </p:txBody>
      </p:sp>
    </p:spTree>
    <p:extLst>
      <p:ext uri="{BB962C8B-B14F-4D97-AF65-F5344CB8AC3E}">
        <p14:creationId xmlns:p14="http://schemas.microsoft.com/office/powerpoint/2010/main" val="1622195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8402652-40DC-495A-80A1-5C18955BB5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AF096B0-6FE8-4106-BBA2-85AA82755D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4EB3EB31-315E-4E25-989B-A74E7A574B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E3E64D-1C60-46C0-9CC3-7E11A0ACFD1F}" type="datetimeFigureOut">
              <a:rPr lang="es-AR" smtClean="0"/>
              <a:t>14/4/2022</a:t>
            </a:fld>
            <a:endParaRPr lang="es-AR"/>
          </a:p>
        </p:txBody>
      </p:sp>
      <p:sp>
        <p:nvSpPr>
          <p:cNvPr id="5" name="Marcador de pie de página 4">
            <a:extLst>
              <a:ext uri="{FF2B5EF4-FFF2-40B4-BE49-F238E27FC236}">
                <a16:creationId xmlns:a16="http://schemas.microsoft.com/office/drawing/2014/main" id="{D92327DE-B32A-465C-8FA0-5C5425BCE1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D9151FB1-CCCE-4E04-B653-B7B9B41766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473138-9DD4-4B6D-A71B-CC179F574CF5}" type="slidenum">
              <a:rPr lang="es-AR" smtClean="0"/>
              <a:t>‹Nº›</a:t>
            </a:fld>
            <a:endParaRPr lang="es-AR"/>
          </a:p>
        </p:txBody>
      </p:sp>
    </p:spTree>
    <p:extLst>
      <p:ext uri="{BB962C8B-B14F-4D97-AF65-F5344CB8AC3E}">
        <p14:creationId xmlns:p14="http://schemas.microsoft.com/office/powerpoint/2010/main" val="2721484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5111FEB-82E8-41F7-B758-979A412EC0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12" y="0"/>
            <a:ext cx="12182775" cy="6857999"/>
          </a:xfrm>
          <a:prstGeom prst="rect">
            <a:avLst/>
          </a:prstGeom>
        </p:spPr>
      </p:pic>
    </p:spTree>
    <p:extLst>
      <p:ext uri="{BB962C8B-B14F-4D97-AF65-F5344CB8AC3E}">
        <p14:creationId xmlns:p14="http://schemas.microsoft.com/office/powerpoint/2010/main" val="460328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89BAFD3F-2C0D-4007-A9C7-51ACC53E3730}"/>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pic>
        <p:nvPicPr>
          <p:cNvPr id="12" name="Imagen 11">
            <a:extLst>
              <a:ext uri="{FF2B5EF4-FFF2-40B4-BE49-F238E27FC236}">
                <a16:creationId xmlns:a16="http://schemas.microsoft.com/office/drawing/2014/main" id="{B7A8B374-537B-4409-94E8-E435DD70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60473" y="6541764"/>
            <a:ext cx="703189" cy="316235"/>
          </a:xfrm>
          <a:prstGeom prst="rect">
            <a:avLst/>
          </a:prstGeom>
        </p:spPr>
      </p:pic>
      <p:sp>
        <p:nvSpPr>
          <p:cNvPr id="4" name="CuadroTexto 3">
            <a:extLst>
              <a:ext uri="{FF2B5EF4-FFF2-40B4-BE49-F238E27FC236}">
                <a16:creationId xmlns:a16="http://schemas.microsoft.com/office/drawing/2014/main" id="{186E340B-CE01-40D3-9379-6A367297AE81}"/>
              </a:ext>
            </a:extLst>
          </p:cNvPr>
          <p:cNvSpPr txBox="1"/>
          <p:nvPr/>
        </p:nvSpPr>
        <p:spPr>
          <a:xfrm>
            <a:off x="554006" y="621566"/>
            <a:ext cx="2028119" cy="523220"/>
          </a:xfrm>
          <a:prstGeom prst="rect">
            <a:avLst/>
          </a:prstGeom>
          <a:noFill/>
        </p:spPr>
        <p:txBody>
          <a:bodyPr wrap="none" rtlCol="0">
            <a:spAutoFit/>
          </a:bodyPr>
          <a:lstStyle/>
          <a:p>
            <a:r>
              <a:rPr lang="es-419" sz="2800" b="1" dirty="0">
                <a:solidFill>
                  <a:srgbClr val="C1C832"/>
                </a:solidFill>
                <a:latin typeface="Verdana" panose="020B0604030504040204" pitchFamily="34" charset="0"/>
                <a:ea typeface="Verdana" panose="020B0604030504040204" pitchFamily="34" charset="0"/>
              </a:rPr>
              <a:t>Temática</a:t>
            </a:r>
            <a:endParaRPr lang="es-AR" sz="2800" b="1" dirty="0">
              <a:solidFill>
                <a:srgbClr val="C1C832"/>
              </a:solidFill>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7628B94E-6D25-482A-8CF8-E122CF1AB3E9}"/>
              </a:ext>
            </a:extLst>
          </p:cNvPr>
          <p:cNvSpPr txBox="1"/>
          <p:nvPr/>
        </p:nvSpPr>
        <p:spPr>
          <a:xfrm>
            <a:off x="554006" y="3841942"/>
            <a:ext cx="1891865" cy="523220"/>
          </a:xfrm>
          <a:prstGeom prst="rect">
            <a:avLst/>
          </a:prstGeom>
          <a:noFill/>
        </p:spPr>
        <p:txBody>
          <a:bodyPr wrap="none" rtlCol="0">
            <a:spAutoFit/>
          </a:bodyPr>
          <a:lstStyle/>
          <a:p>
            <a:r>
              <a:rPr lang="es-419" sz="2800" b="1" dirty="0">
                <a:solidFill>
                  <a:srgbClr val="C1C832"/>
                </a:solidFill>
                <a:latin typeface="Verdana" panose="020B0604030504040204" pitchFamily="34" charset="0"/>
                <a:ea typeface="Verdana" panose="020B0604030504040204" pitchFamily="34" charset="0"/>
              </a:rPr>
              <a:t>Objetivo</a:t>
            </a:r>
            <a:endParaRPr lang="es-AR" sz="2800" b="1" dirty="0">
              <a:solidFill>
                <a:srgbClr val="C1C832"/>
              </a:solidFill>
              <a:latin typeface="Verdana" panose="020B0604030504040204" pitchFamily="34" charset="0"/>
              <a:ea typeface="Verdana" panose="020B0604030504040204" pitchFamily="34" charset="0"/>
            </a:endParaRPr>
          </a:p>
        </p:txBody>
      </p:sp>
      <p:sp>
        <p:nvSpPr>
          <p:cNvPr id="15" name="CuadroTexto 14">
            <a:extLst>
              <a:ext uri="{FF2B5EF4-FFF2-40B4-BE49-F238E27FC236}">
                <a16:creationId xmlns:a16="http://schemas.microsoft.com/office/drawing/2014/main" id="{5FD792AC-DA0A-4FE4-9120-93B1A088B41E}"/>
              </a:ext>
            </a:extLst>
          </p:cNvPr>
          <p:cNvSpPr txBox="1"/>
          <p:nvPr/>
        </p:nvSpPr>
        <p:spPr>
          <a:xfrm>
            <a:off x="746510" y="1336534"/>
            <a:ext cx="10924673" cy="2246769"/>
          </a:xfrm>
          <a:prstGeom prst="rect">
            <a:avLst/>
          </a:prstGeom>
          <a:noFill/>
        </p:spPr>
        <p:txBody>
          <a:bodyPr wrap="square" rtlCol="0">
            <a:spAutoFit/>
          </a:bodyPr>
          <a:lstStyle/>
          <a:p>
            <a:r>
              <a:rPr lang="es-AR" sz="2000" dirty="0">
                <a:solidFill>
                  <a:schemeClr val="bg1"/>
                </a:solidFill>
                <a:latin typeface="Verdana" panose="020B0604030504040204" pitchFamily="34" charset="0"/>
                <a:ea typeface="Verdana" panose="020B0604030504040204" pitchFamily="34" charset="0"/>
              </a:rPr>
              <a:t>APRENDER 2017. RESULTADOS PARA ESTUDIANTES DEL ÚLTIMO AÑO DE NIVEL SECUNDARIO (5TO O 6TO AÑO) EN MATEMÁTICAS Y LENGUA.</a:t>
            </a:r>
          </a:p>
          <a:p>
            <a:endParaRPr lang="es-AR" sz="2000" dirty="0">
              <a:solidFill>
                <a:schemeClr val="bg1"/>
              </a:solidFill>
              <a:latin typeface="Verdana" panose="020B0604030504040204" pitchFamily="34" charset="0"/>
              <a:ea typeface="Verdana" panose="020B0604030504040204" pitchFamily="34" charset="0"/>
            </a:endParaRPr>
          </a:p>
          <a:p>
            <a:r>
              <a:rPr lang="es-AR" sz="2000" dirty="0">
                <a:solidFill>
                  <a:schemeClr val="bg1"/>
                </a:solidFill>
                <a:latin typeface="Verdana" panose="020B0604030504040204" pitchFamily="34" charset="0"/>
                <a:ea typeface="Verdana" panose="020B0604030504040204" pitchFamily="34" charset="0"/>
              </a:rPr>
              <a:t>Aprender es un dispositivo nacional que mide la evaluación de los aprendizajes de estudiantes de niveles primario y secundario en Argentina. La encuesta también releva y sistematiza información acerca de algunas condiciones socio-económicas de los alumnos y de los establecimientos educativos a los que asisten. </a:t>
            </a:r>
          </a:p>
        </p:txBody>
      </p:sp>
      <p:sp>
        <p:nvSpPr>
          <p:cNvPr id="16" name="CuadroTexto 15">
            <a:extLst>
              <a:ext uri="{FF2B5EF4-FFF2-40B4-BE49-F238E27FC236}">
                <a16:creationId xmlns:a16="http://schemas.microsoft.com/office/drawing/2014/main" id="{D1DF3C59-43CC-4FE9-8BDE-18699B635631}"/>
              </a:ext>
            </a:extLst>
          </p:cNvPr>
          <p:cNvSpPr txBox="1"/>
          <p:nvPr/>
        </p:nvSpPr>
        <p:spPr>
          <a:xfrm>
            <a:off x="746510" y="4507050"/>
            <a:ext cx="10924673" cy="1631216"/>
          </a:xfrm>
          <a:prstGeom prst="rect">
            <a:avLst/>
          </a:prstGeom>
          <a:noFill/>
        </p:spPr>
        <p:txBody>
          <a:bodyPr wrap="square" rtlCol="0">
            <a:spAutoFit/>
          </a:bodyPr>
          <a:lstStyle/>
          <a:p>
            <a:r>
              <a:rPr lang="es-AR" sz="2000" dirty="0">
                <a:solidFill>
                  <a:schemeClr val="bg1"/>
                </a:solidFill>
                <a:latin typeface="Verdana" panose="020B0604030504040204" pitchFamily="34" charset="0"/>
                <a:ea typeface="Verdana" panose="020B0604030504040204" pitchFamily="34" charset="0"/>
              </a:rPr>
              <a:t>El objetivo de este proyecto es analizar las diferencias en rendimiento educativo a nivel regional (provincias) como por tipo de sector de gestión del establecimiento educativo (público o privado), para estudiantes del último año de nivel secundario (5to o 6to año) en matemáticas y lengua en Argentina, correspondiente a los resultados obtenidos en el año 2017.</a:t>
            </a:r>
          </a:p>
        </p:txBody>
      </p:sp>
      <p:pic>
        <p:nvPicPr>
          <p:cNvPr id="19" name="Imagen 18">
            <a:extLst>
              <a:ext uri="{FF2B5EF4-FFF2-40B4-BE49-F238E27FC236}">
                <a16:creationId xmlns:a16="http://schemas.microsoft.com/office/drawing/2014/main" id="{185CF40F-FED8-48BE-B1CE-4D8C5E011A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2147" y="218610"/>
            <a:ext cx="1973195" cy="796379"/>
          </a:xfrm>
          <a:prstGeom prst="rect">
            <a:avLst/>
          </a:prstGeom>
        </p:spPr>
      </p:pic>
    </p:spTree>
    <p:extLst>
      <p:ext uri="{BB962C8B-B14F-4D97-AF65-F5344CB8AC3E}">
        <p14:creationId xmlns:p14="http://schemas.microsoft.com/office/powerpoint/2010/main" val="2676080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89BAFD3F-2C0D-4007-A9C7-51ACC53E3730}"/>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dirty="0"/>
          </a:p>
        </p:txBody>
      </p:sp>
      <p:pic>
        <p:nvPicPr>
          <p:cNvPr id="12" name="Imagen 11">
            <a:extLst>
              <a:ext uri="{FF2B5EF4-FFF2-40B4-BE49-F238E27FC236}">
                <a16:creationId xmlns:a16="http://schemas.microsoft.com/office/drawing/2014/main" id="{B7A8B374-537B-4409-94E8-E435DD70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60473" y="6541764"/>
            <a:ext cx="703189" cy="316235"/>
          </a:xfrm>
          <a:prstGeom prst="rect">
            <a:avLst/>
          </a:prstGeom>
        </p:spPr>
      </p:pic>
      <p:sp>
        <p:nvSpPr>
          <p:cNvPr id="4" name="CuadroTexto 3">
            <a:extLst>
              <a:ext uri="{FF2B5EF4-FFF2-40B4-BE49-F238E27FC236}">
                <a16:creationId xmlns:a16="http://schemas.microsoft.com/office/drawing/2014/main" id="{186E340B-CE01-40D3-9379-6A367297AE81}"/>
              </a:ext>
            </a:extLst>
          </p:cNvPr>
          <p:cNvSpPr txBox="1"/>
          <p:nvPr/>
        </p:nvSpPr>
        <p:spPr>
          <a:xfrm>
            <a:off x="554006" y="621566"/>
            <a:ext cx="6370655" cy="523220"/>
          </a:xfrm>
          <a:prstGeom prst="rect">
            <a:avLst/>
          </a:prstGeom>
          <a:noFill/>
        </p:spPr>
        <p:txBody>
          <a:bodyPr wrap="none" rtlCol="0">
            <a:spAutoFit/>
          </a:bodyPr>
          <a:lstStyle/>
          <a:p>
            <a:r>
              <a:rPr lang="es-AR" sz="2800" b="1" dirty="0">
                <a:solidFill>
                  <a:srgbClr val="C1C832"/>
                </a:solidFill>
                <a:latin typeface="Verdana" panose="020B0604030504040204" pitchFamily="34" charset="0"/>
                <a:ea typeface="Verdana" panose="020B0604030504040204" pitchFamily="34" charset="0"/>
              </a:rPr>
              <a:t>Nivel de aplicación del análisis</a:t>
            </a:r>
          </a:p>
        </p:txBody>
      </p:sp>
      <p:sp>
        <p:nvSpPr>
          <p:cNvPr id="15" name="CuadroTexto 14">
            <a:extLst>
              <a:ext uri="{FF2B5EF4-FFF2-40B4-BE49-F238E27FC236}">
                <a16:creationId xmlns:a16="http://schemas.microsoft.com/office/drawing/2014/main" id="{5FD792AC-DA0A-4FE4-9120-93B1A088B41E}"/>
              </a:ext>
            </a:extLst>
          </p:cNvPr>
          <p:cNvSpPr txBox="1"/>
          <p:nvPr/>
        </p:nvSpPr>
        <p:spPr>
          <a:xfrm>
            <a:off x="746510" y="1336534"/>
            <a:ext cx="10924673" cy="4401205"/>
          </a:xfrm>
          <a:prstGeom prst="rect">
            <a:avLst/>
          </a:prstGeom>
          <a:noFill/>
        </p:spPr>
        <p:txBody>
          <a:bodyPr wrap="square" rtlCol="0">
            <a:spAutoFit/>
          </a:bodyPr>
          <a:lstStyle/>
          <a:p>
            <a:r>
              <a:rPr lang="es-AR" sz="2000" dirty="0">
                <a:solidFill>
                  <a:schemeClr val="bg1"/>
                </a:solidFill>
                <a:latin typeface="Verdana" panose="020B0604030504040204" pitchFamily="34" charset="0"/>
                <a:ea typeface="Verdana" panose="020B0604030504040204" pitchFamily="34" charset="0"/>
              </a:rPr>
              <a:t>El público objetivo al que se encuentra dirigido el proyecto es:</a:t>
            </a:r>
          </a:p>
          <a:p>
            <a:endParaRPr lang="es-AR" sz="2000" dirty="0">
              <a:solidFill>
                <a:schemeClr val="bg1"/>
              </a:solidFill>
              <a:latin typeface="Verdana" panose="020B0604030504040204" pitchFamily="34" charset="0"/>
              <a:ea typeface="Verdana" panose="020B0604030504040204" pitchFamily="34" charset="0"/>
            </a:endParaRPr>
          </a:p>
          <a:p>
            <a:pPr marL="342900" indent="-342900">
              <a:buFont typeface="Arial" panose="020B0604020202020204" pitchFamily="34" charset="0"/>
              <a:buChar char="•"/>
            </a:pPr>
            <a:r>
              <a:rPr lang="es-AR" sz="2000" dirty="0">
                <a:solidFill>
                  <a:schemeClr val="bg1"/>
                </a:solidFill>
                <a:latin typeface="Verdana" panose="020B0604030504040204" pitchFamily="34" charset="0"/>
                <a:ea typeface="Verdana" panose="020B0604030504040204" pitchFamily="34" charset="0"/>
              </a:rPr>
              <a:t>Público general interesado en la temática educativa para la Argentina.</a:t>
            </a:r>
          </a:p>
          <a:p>
            <a:pPr marL="342900" indent="-342900">
              <a:buFont typeface="Arial" panose="020B0604020202020204" pitchFamily="34" charset="0"/>
              <a:buChar char="•"/>
            </a:pPr>
            <a:r>
              <a:rPr lang="es-AR" sz="2000" dirty="0">
                <a:solidFill>
                  <a:schemeClr val="bg1"/>
                </a:solidFill>
                <a:latin typeface="Verdana" panose="020B0604030504040204" pitchFamily="34" charset="0"/>
                <a:ea typeface="Verdana" panose="020B0604030504040204" pitchFamily="34" charset="0"/>
              </a:rPr>
              <a:t>Funcionarios públicos que desempeñen actividades relacionadas a la temática educativa, tanto de forma directa como indirecta.</a:t>
            </a:r>
          </a:p>
          <a:p>
            <a:pPr marL="342900" indent="-342900">
              <a:buFont typeface="Arial" panose="020B0604020202020204" pitchFamily="34" charset="0"/>
              <a:buChar char="•"/>
            </a:pPr>
            <a:r>
              <a:rPr lang="es-AR" sz="2000" dirty="0">
                <a:solidFill>
                  <a:schemeClr val="bg1"/>
                </a:solidFill>
                <a:latin typeface="Verdana" panose="020B0604030504040204" pitchFamily="34" charset="0"/>
                <a:ea typeface="Verdana" panose="020B0604030504040204" pitchFamily="34" charset="0"/>
              </a:rPr>
              <a:t>Periodistas especializados en temáticas socio-económicas.</a:t>
            </a:r>
          </a:p>
          <a:p>
            <a:pPr marL="342900" indent="-342900">
              <a:buFont typeface="Arial" panose="020B0604020202020204" pitchFamily="34" charset="0"/>
              <a:buChar char="•"/>
            </a:pPr>
            <a:r>
              <a:rPr lang="es-AR" sz="2000" dirty="0">
                <a:solidFill>
                  <a:schemeClr val="bg1"/>
                </a:solidFill>
                <a:latin typeface="Verdana" panose="020B0604030504040204" pitchFamily="34" charset="0"/>
                <a:ea typeface="Verdana" panose="020B0604030504040204" pitchFamily="34" charset="0"/>
              </a:rPr>
              <a:t>Departamentos de recursos humanos de firmas intensivas en capital humano.</a:t>
            </a:r>
          </a:p>
          <a:p>
            <a:endParaRPr lang="es-AR" sz="2000" dirty="0">
              <a:solidFill>
                <a:schemeClr val="bg1"/>
              </a:solidFill>
              <a:latin typeface="Verdana" panose="020B0604030504040204" pitchFamily="34" charset="0"/>
              <a:ea typeface="Verdana" panose="020B0604030504040204" pitchFamily="34" charset="0"/>
            </a:endParaRPr>
          </a:p>
          <a:p>
            <a:endParaRPr lang="es-AR" sz="2000" dirty="0">
              <a:solidFill>
                <a:schemeClr val="bg1"/>
              </a:solidFill>
              <a:latin typeface="Verdana" panose="020B0604030504040204" pitchFamily="34" charset="0"/>
              <a:ea typeface="Verdana" panose="020B0604030504040204" pitchFamily="34" charset="0"/>
            </a:endParaRPr>
          </a:p>
          <a:p>
            <a:r>
              <a:rPr lang="es-AR" sz="2000" dirty="0">
                <a:solidFill>
                  <a:schemeClr val="bg1"/>
                </a:solidFill>
                <a:latin typeface="Verdana" panose="020B0604030504040204" pitchFamily="34" charset="0"/>
                <a:ea typeface="Verdana" panose="020B0604030504040204" pitchFamily="34" charset="0"/>
              </a:rPr>
              <a:t>El nivel de aplicación del análisis es de carácter descriptivo. Tiene como objetivo motivar la discusión alrededor de la problemática de la calidad educativa contemporánea. La información que se presenta no permite realizar afirmaciones de tipo causal, aunque sugiere caminos para un tratamiento posterior en ese sentido.</a:t>
            </a:r>
          </a:p>
        </p:txBody>
      </p:sp>
      <p:pic>
        <p:nvPicPr>
          <p:cNvPr id="19" name="Imagen 18">
            <a:extLst>
              <a:ext uri="{FF2B5EF4-FFF2-40B4-BE49-F238E27FC236}">
                <a16:creationId xmlns:a16="http://schemas.microsoft.com/office/drawing/2014/main" id="{185CF40F-FED8-48BE-B1CE-4D8C5E011A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2147" y="218610"/>
            <a:ext cx="1973195" cy="796379"/>
          </a:xfrm>
          <a:prstGeom prst="rect">
            <a:avLst/>
          </a:prstGeom>
        </p:spPr>
      </p:pic>
    </p:spTree>
    <p:extLst>
      <p:ext uri="{BB962C8B-B14F-4D97-AF65-F5344CB8AC3E}">
        <p14:creationId xmlns:p14="http://schemas.microsoft.com/office/powerpoint/2010/main" val="2927711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30A76842-3DF0-40E3-811B-C18BF7FCE332}"/>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AR"/>
          </a:p>
        </p:txBody>
      </p:sp>
      <p:pic>
        <p:nvPicPr>
          <p:cNvPr id="5" name="Imagen 4">
            <a:extLst>
              <a:ext uri="{FF2B5EF4-FFF2-40B4-BE49-F238E27FC236}">
                <a16:creationId xmlns:a16="http://schemas.microsoft.com/office/drawing/2014/main" id="{7B621A31-7366-49D6-8E64-E0BC634527BB}"/>
              </a:ext>
            </a:extLst>
          </p:cNvPr>
          <p:cNvPicPr>
            <a:picLocks noChangeAspect="1"/>
          </p:cNvPicPr>
          <p:nvPr/>
        </p:nvPicPr>
        <p:blipFill rotWithShape="1">
          <a:blip r:embed="rId2"/>
          <a:srcRect l="2368" t="15205" r="23953" b="9473"/>
          <a:stretch/>
        </p:blipFill>
        <p:spPr>
          <a:xfrm>
            <a:off x="641684" y="513347"/>
            <a:ext cx="4828675" cy="2776708"/>
          </a:xfrm>
          <a:prstGeom prst="rect">
            <a:avLst/>
          </a:prstGeom>
        </p:spPr>
      </p:pic>
      <p:pic>
        <p:nvPicPr>
          <p:cNvPr id="7" name="Imagen 6">
            <a:extLst>
              <a:ext uri="{FF2B5EF4-FFF2-40B4-BE49-F238E27FC236}">
                <a16:creationId xmlns:a16="http://schemas.microsoft.com/office/drawing/2014/main" id="{43994889-1E42-455C-8698-D132B28E34F0}"/>
              </a:ext>
            </a:extLst>
          </p:cNvPr>
          <p:cNvPicPr>
            <a:picLocks noChangeAspect="1"/>
          </p:cNvPicPr>
          <p:nvPr/>
        </p:nvPicPr>
        <p:blipFill rotWithShape="1">
          <a:blip r:embed="rId3"/>
          <a:srcRect l="3157" t="14737" r="21448" b="10643"/>
          <a:stretch/>
        </p:blipFill>
        <p:spPr>
          <a:xfrm>
            <a:off x="6497055" y="601840"/>
            <a:ext cx="4828674" cy="2688215"/>
          </a:xfrm>
          <a:prstGeom prst="rect">
            <a:avLst/>
          </a:prstGeom>
        </p:spPr>
      </p:pic>
      <p:pic>
        <p:nvPicPr>
          <p:cNvPr id="9" name="Imagen 8">
            <a:extLst>
              <a:ext uri="{FF2B5EF4-FFF2-40B4-BE49-F238E27FC236}">
                <a16:creationId xmlns:a16="http://schemas.microsoft.com/office/drawing/2014/main" id="{6FCDC179-F504-4EFE-84F0-F64DAB886D3D}"/>
              </a:ext>
            </a:extLst>
          </p:cNvPr>
          <p:cNvPicPr>
            <a:picLocks noChangeAspect="1"/>
          </p:cNvPicPr>
          <p:nvPr/>
        </p:nvPicPr>
        <p:blipFill rotWithShape="1">
          <a:blip r:embed="rId4"/>
          <a:srcRect l="3421" t="15205" r="21448" b="10643"/>
          <a:stretch/>
        </p:blipFill>
        <p:spPr>
          <a:xfrm>
            <a:off x="641684" y="3739284"/>
            <a:ext cx="4908885" cy="2725248"/>
          </a:xfrm>
          <a:prstGeom prst="rect">
            <a:avLst/>
          </a:prstGeom>
        </p:spPr>
      </p:pic>
      <p:pic>
        <p:nvPicPr>
          <p:cNvPr id="11" name="Imagen 10">
            <a:extLst>
              <a:ext uri="{FF2B5EF4-FFF2-40B4-BE49-F238E27FC236}">
                <a16:creationId xmlns:a16="http://schemas.microsoft.com/office/drawing/2014/main" id="{23C0DD17-3C58-49DE-9A80-45625FD46519}"/>
              </a:ext>
            </a:extLst>
          </p:cNvPr>
          <p:cNvPicPr>
            <a:picLocks noChangeAspect="1"/>
          </p:cNvPicPr>
          <p:nvPr/>
        </p:nvPicPr>
        <p:blipFill rotWithShape="1">
          <a:blip r:embed="rId5"/>
          <a:srcRect l="3290" t="14971" r="21579" b="8776"/>
          <a:stretch/>
        </p:blipFill>
        <p:spPr>
          <a:xfrm>
            <a:off x="6416844" y="3739284"/>
            <a:ext cx="4908885" cy="2802481"/>
          </a:xfrm>
          <a:prstGeom prst="rect">
            <a:avLst/>
          </a:prstGeom>
        </p:spPr>
      </p:pic>
      <p:pic>
        <p:nvPicPr>
          <p:cNvPr id="12" name="Imagen 11">
            <a:extLst>
              <a:ext uri="{FF2B5EF4-FFF2-40B4-BE49-F238E27FC236}">
                <a16:creationId xmlns:a16="http://schemas.microsoft.com/office/drawing/2014/main" id="{8C9FDF64-2005-4E44-AA88-69F927955B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60473" y="6541764"/>
            <a:ext cx="703189" cy="316235"/>
          </a:xfrm>
          <a:prstGeom prst="rect">
            <a:avLst/>
          </a:prstGeom>
        </p:spPr>
      </p:pic>
    </p:spTree>
    <p:extLst>
      <p:ext uri="{BB962C8B-B14F-4D97-AF65-F5344CB8AC3E}">
        <p14:creationId xmlns:p14="http://schemas.microsoft.com/office/powerpoint/2010/main" val="22661430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250</Words>
  <Application>Microsoft Office PowerPoint</Application>
  <PresentationFormat>Panorámica</PresentationFormat>
  <Paragraphs>16</Paragraphs>
  <Slides>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vt:i4>
      </vt:variant>
    </vt:vector>
  </HeadingPairs>
  <TitlesOfParts>
    <vt:vector size="9" baseType="lpstr">
      <vt:lpstr>Arial</vt:lpstr>
      <vt:lpstr>Calibri</vt:lpstr>
      <vt:lpstr>Calibri Light</vt:lpstr>
      <vt:lpstr>Verdana</vt:lpstr>
      <vt:lpstr>Tema de Office</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German Tessmer</dc:creator>
  <cp:lastModifiedBy>German Tessmer</cp:lastModifiedBy>
  <cp:revision>3</cp:revision>
  <dcterms:created xsi:type="dcterms:W3CDTF">2022-04-14T13:14:18Z</dcterms:created>
  <dcterms:modified xsi:type="dcterms:W3CDTF">2022-04-14T14:04:39Z</dcterms:modified>
</cp:coreProperties>
</file>